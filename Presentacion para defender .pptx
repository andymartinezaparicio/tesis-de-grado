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37"/>
  </p:notesMasterIdLst>
  <p:sldIdLst>
    <p:sldId id="256" r:id="rId2"/>
    <p:sldId id="355" r:id="rId3"/>
    <p:sldId id="261" r:id="rId4"/>
    <p:sldId id="340" r:id="rId5"/>
    <p:sldId id="341" r:id="rId6"/>
    <p:sldId id="315" r:id="rId7"/>
    <p:sldId id="316" r:id="rId8"/>
    <p:sldId id="357" r:id="rId9"/>
    <p:sldId id="346" r:id="rId10"/>
    <p:sldId id="367" r:id="rId11"/>
    <p:sldId id="361" r:id="rId12"/>
    <p:sldId id="348" r:id="rId13"/>
    <p:sldId id="366" r:id="rId14"/>
    <p:sldId id="368" r:id="rId15"/>
    <p:sldId id="360" r:id="rId16"/>
    <p:sldId id="384" r:id="rId17"/>
    <p:sldId id="332" r:id="rId18"/>
    <p:sldId id="376" r:id="rId19"/>
    <p:sldId id="374" r:id="rId20"/>
    <p:sldId id="377" r:id="rId21"/>
    <p:sldId id="383" r:id="rId22"/>
    <p:sldId id="379" r:id="rId23"/>
    <p:sldId id="380" r:id="rId24"/>
    <p:sldId id="336" r:id="rId25"/>
    <p:sldId id="390" r:id="rId26"/>
    <p:sldId id="364" r:id="rId27"/>
    <p:sldId id="370" r:id="rId28"/>
    <p:sldId id="385" r:id="rId29"/>
    <p:sldId id="371" r:id="rId30"/>
    <p:sldId id="386" r:id="rId31"/>
    <p:sldId id="388" r:id="rId32"/>
    <p:sldId id="389" r:id="rId33"/>
    <p:sldId id="372" r:id="rId34"/>
    <p:sldId id="387" r:id="rId35"/>
    <p:sldId id="391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086E54"/>
    <a:srgbClr val="0EC295"/>
    <a:srgbClr val="D5D6D6"/>
    <a:srgbClr val="A6A5A4"/>
    <a:srgbClr val="A0B6DC"/>
    <a:srgbClr val="B4C7E7"/>
    <a:srgbClr val="E6AD86"/>
    <a:srgbClr val="C96A29"/>
    <a:srgbClr val="709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256" autoAdjust="0"/>
  </p:normalViewPr>
  <p:slideViewPr>
    <p:cSldViewPr snapToGrid="0">
      <p:cViewPr varScale="1">
        <p:scale>
          <a:sx n="83" d="100"/>
          <a:sy n="83" d="100"/>
        </p:scale>
        <p:origin x="15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A0A60-E4C5-42AD-9BD5-B43FD1CD9CF6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9A60C-A93D-4B66-9AE2-ED9FD7F690F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494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93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895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543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09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78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650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083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93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435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441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383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7F89E-1127-4ACE-BA0E-087BB5C2FD77}" type="datetimeFigureOut">
              <a:rPr lang="es-MX" smtClean="0"/>
              <a:t>25/07/2026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761AE-6FF5-4CF2-82C6-A3138F2565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804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0402CB1-9C99-6C1B-3B64-C7FF38F7E0CD}"/>
              </a:ext>
            </a:extLst>
          </p:cNvPr>
          <p:cNvSpPr txBox="1"/>
          <p:nvPr/>
        </p:nvSpPr>
        <p:spPr>
          <a:xfrm>
            <a:off x="1256159" y="107850"/>
            <a:ext cx="7038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Universidad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Tecnológica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de La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Habana</a:t>
            </a:r>
          </a:p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“</a:t>
            </a:r>
            <a:r>
              <a:rPr lang="es-ES_tradnl" sz="2000" kern="10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José Antonio Echeverría”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60CB6-3870-4CE8-0035-D296BFE7C183}"/>
              </a:ext>
            </a:extLst>
          </p:cNvPr>
          <p:cNvSpPr txBox="1"/>
          <p:nvPr/>
        </p:nvSpPr>
        <p:spPr>
          <a:xfrm>
            <a:off x="223962" y="2929878"/>
            <a:ext cx="8682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DESARROLLO DE UN MÓDULO DE SEGURIDAD POR SOFTWARE PARA LA GESTIÓN DE CLAVES CRIPTOGRÁFICAS Y FIRMA DIGITAL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C24001-A083-A1A2-3DFE-F37405E37272}"/>
              </a:ext>
            </a:extLst>
          </p:cNvPr>
          <p:cNvSpPr txBox="1"/>
          <p:nvPr/>
        </p:nvSpPr>
        <p:spPr>
          <a:xfrm>
            <a:off x="544946" y="5050869"/>
            <a:ext cx="7232072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9911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</a:pPr>
            <a:r>
              <a:rPr lang="es-ES_tradnl" sz="2400" b="1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Autor: 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Andy Martínez-Aparicio González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499110"/>
            <a:r>
              <a:rPr lang="es-ES_tradnl" sz="2400" b="1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Tutora: </a:t>
            </a:r>
            <a:r>
              <a:rPr lang="es-ES_tradnl" sz="2400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Dr. C.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Lisandra Bravo </a:t>
            </a:r>
            <a:r>
              <a:rPr lang="es-ES_tradnl" sz="2400" kern="100" spc="-1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Ilisástigui</a:t>
            </a:r>
            <a:endParaRPr lang="es-ES_tradnl" sz="2400" kern="100" spc="-1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076325" marR="499110" indent="69850">
              <a:tabLst>
                <a:tab pos="1165225" algn="l"/>
              </a:tabLst>
            </a:pPr>
            <a:r>
              <a:rPr lang="es-ES_tradnl" sz="2400" kern="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Ing. Rubén Sánchez Rivero</a:t>
            </a:r>
            <a:endParaRPr lang="es-MX" sz="2400" kern="1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79FC1E-EFFF-D4D2-34B2-F0C7CC16EAAB}"/>
              </a:ext>
            </a:extLst>
          </p:cNvPr>
          <p:cNvCxnSpPr>
            <a:cxnSpLocks/>
          </p:cNvCxnSpPr>
          <p:nvPr/>
        </p:nvCxnSpPr>
        <p:spPr>
          <a:xfrm>
            <a:off x="683492" y="2706254"/>
            <a:ext cx="7712363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6FE1D9-6461-752C-DB8D-E34D17AB7F40}"/>
              </a:ext>
            </a:extLst>
          </p:cNvPr>
          <p:cNvCxnSpPr>
            <a:cxnSpLocks/>
          </p:cNvCxnSpPr>
          <p:nvPr/>
        </p:nvCxnSpPr>
        <p:spPr>
          <a:xfrm flipV="1">
            <a:off x="1542549" y="4400553"/>
            <a:ext cx="6215997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390FA4-EA04-6388-FEF6-68E257F27673}"/>
              </a:ext>
            </a:extLst>
          </p:cNvPr>
          <p:cNvSpPr txBox="1"/>
          <p:nvPr/>
        </p:nvSpPr>
        <p:spPr>
          <a:xfrm>
            <a:off x="2637356" y="2077012"/>
            <a:ext cx="4105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Facultad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</a:t>
            </a:r>
            <a:r>
              <a:rPr lang="es-ES_tradnl" sz="2000" spc="-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Ingeniería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Informática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038947D-8359-49FB-BBB3-BBDCABC72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96" y="786950"/>
            <a:ext cx="1204308" cy="12168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1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A1AB47AB-3D63-D423-8C2C-EDE6F868D4FA}"/>
              </a:ext>
            </a:extLst>
          </p:cNvPr>
          <p:cNvSpPr txBox="1"/>
          <p:nvPr/>
        </p:nvSpPr>
        <p:spPr>
          <a:xfrm>
            <a:off x="-201298" y="227016"/>
            <a:ext cx="30645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CONTEXTO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D4026-5BF4-D795-CB81-20783084938E}"/>
              </a:ext>
            </a:extLst>
          </p:cNvPr>
          <p:cNvSpPr txBox="1"/>
          <p:nvPr/>
        </p:nvSpPr>
        <p:spPr>
          <a:xfrm>
            <a:off x="215024" y="1536228"/>
            <a:ext cx="88103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En la actualidad, la firma digital se ha consolidado como un mecanismo esencial para garantizar la autenticidad, integridad y no repudio de documentos en entornos digitales.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En Cuba, los últimos años han marcado un creciente énfasis en su incorporación a los servicios digitales del país.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En este contexto la MIPYME INGENIUS crea una plataforma de firma digital llamada </a:t>
            </a:r>
            <a:r>
              <a:rPr lang="es-MX" sz="2400" dirty="0" err="1">
                <a:latin typeface="Arial" panose="020B0604020202020204" pitchFamily="34" charset="0"/>
                <a:cs typeface="Arial" panose="020B0604020202020204" pitchFamily="34" charset="0"/>
              </a:rPr>
              <a:t>eFirma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, para satisfacer esta necesidad en el entorno cubano.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5397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A1AB47AB-3D63-D423-8C2C-EDE6F868D4FA}"/>
              </a:ext>
            </a:extLst>
          </p:cNvPr>
          <p:cNvSpPr txBox="1"/>
          <p:nvPr/>
        </p:nvSpPr>
        <p:spPr>
          <a:xfrm>
            <a:off x="-201298" y="227016"/>
            <a:ext cx="56507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SITUACIÓN PROBLEMÁTICA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D4026-5BF4-D795-CB81-20783084938E}"/>
              </a:ext>
            </a:extLst>
          </p:cNvPr>
          <p:cNvSpPr txBox="1"/>
          <p:nvPr/>
        </p:nvSpPr>
        <p:spPr>
          <a:xfrm>
            <a:off x="673764" y="1573119"/>
            <a:ext cx="82740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Las firmas se realizan de manera local, el usuario debe cargar manualmente su certificado digital en cada operación.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Esto expone la clave privada fuera de un entorno controlado y aumenta el riesgo de pérdida o robo.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La clave privada es el activo más crítico de una infraestructura de seguridad, si se compromete se invalida la confianza en todas las firmas emitidas.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464782E-D6A7-43ED-8BAA-7B0C8732A37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085FCA5-AD69-4772-8FD4-5AB9234A062E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9943B3A9-5081-4F1D-9127-21B17717D260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0382BEF8-EFAC-4393-BAA7-145010B8E5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3680" y="1887538"/>
            <a:ext cx="333290" cy="301937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A14B7E4-54EC-4E54-B13A-99DC4C1126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3680" y="3287513"/>
            <a:ext cx="333290" cy="301937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3C088065-8D39-4F4B-B59E-420C935290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1968" y="4608253"/>
            <a:ext cx="333290" cy="301937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5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C6997807-B99D-4A97-2406-09434AFDF88C}"/>
              </a:ext>
            </a:extLst>
          </p:cNvPr>
          <p:cNvSpPr txBox="1"/>
          <p:nvPr/>
        </p:nvSpPr>
        <p:spPr>
          <a:xfrm>
            <a:off x="792138" y="3785587"/>
            <a:ext cx="7655242" cy="18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HSM basado en software</a:t>
            </a: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Implementación que simula las funciones del HSM mediante código, ejecutándose sobre servidores convencionales.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542812-0192-4CCE-B676-E2620FD8388F}"/>
              </a:ext>
            </a:extLst>
          </p:cNvPr>
          <p:cNvSpPr txBox="1"/>
          <p:nvPr/>
        </p:nvSpPr>
        <p:spPr>
          <a:xfrm>
            <a:off x="792138" y="1536253"/>
            <a:ext cx="7795981" cy="224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HSM (Módulo de Seguridad de Hardware)</a:t>
            </a: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Dispositivo físico especializado que realiza operaciones criptográficas y custodia claves sin exponerlas al entorno externo.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7049C22-90A9-45F5-B563-853BF8445C37}"/>
              </a:ext>
            </a:extLst>
          </p:cNvPr>
          <p:cNvSpPr txBox="1"/>
          <p:nvPr/>
        </p:nvSpPr>
        <p:spPr>
          <a:xfrm>
            <a:off x="-201298" y="227016"/>
            <a:ext cx="58771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CONCEPTOS IMPORTANTES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C9258E3-D9BF-4F72-B64D-55F58DE0342D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278D289-05DF-40BB-8240-FFD00C9EF1A8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EC6B76D-15FF-4BE0-A938-FAE16394EDCB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645ECE7B-7EC5-49AC-AF2B-4CDF9E321A12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31F2AE-FC77-40CD-AD6F-9748B8742A82}"/>
              </a:ext>
            </a:extLst>
          </p:cNvPr>
          <p:cNvCxnSpPr>
            <a:cxnSpLocks/>
          </p:cNvCxnSpPr>
          <p:nvPr/>
        </p:nvCxnSpPr>
        <p:spPr>
          <a:xfrm>
            <a:off x="672220" y="1692560"/>
            <a:ext cx="0" cy="164592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7B81304-6BE9-412C-9EBD-533234FB106B}"/>
              </a:ext>
            </a:extLst>
          </p:cNvPr>
          <p:cNvCxnSpPr>
            <a:cxnSpLocks/>
          </p:cNvCxnSpPr>
          <p:nvPr/>
        </p:nvCxnSpPr>
        <p:spPr>
          <a:xfrm>
            <a:off x="676841" y="3960086"/>
            <a:ext cx="0" cy="164592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91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C6997807-B99D-4A97-2406-09434AFDF88C}"/>
              </a:ext>
            </a:extLst>
          </p:cNvPr>
          <p:cNvSpPr txBox="1"/>
          <p:nvPr/>
        </p:nvSpPr>
        <p:spPr>
          <a:xfrm>
            <a:off x="499941" y="2402641"/>
            <a:ext cx="84519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800" dirty="0">
                <a:latin typeface="Arial" panose="020B0604020202020204" pitchFamily="34" charset="0"/>
                <a:cs typeface="Arial" panose="020B0604020202020204" pitchFamily="34" charset="0"/>
              </a:rPr>
              <a:t>¿Cómo desarrollar un módulo de seguridad por software que garantice la protección y gestión de claves criptográficas, así como la ejecución segura de operaciones de firma digital?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BE3822B-5E58-456B-93AA-82F6B467B4D3}"/>
              </a:ext>
            </a:extLst>
          </p:cNvPr>
          <p:cNvSpPr txBox="1"/>
          <p:nvPr/>
        </p:nvSpPr>
        <p:spPr>
          <a:xfrm>
            <a:off x="150553" y="1091447"/>
            <a:ext cx="5877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 DE INVESTIGACIÓN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D9E541A-3B5D-4A49-8D84-B9BB5EAEAA0E}"/>
              </a:ext>
            </a:extLst>
          </p:cNvPr>
          <p:cNvCxnSpPr>
            <a:cxnSpLocks/>
          </p:cNvCxnSpPr>
          <p:nvPr/>
        </p:nvCxnSpPr>
        <p:spPr>
          <a:xfrm>
            <a:off x="233680" y="303472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085A542-F29E-449B-BE8B-9C050D0F0BC6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4CA8B5F-9D04-447C-9A9E-4E6E7EE7C754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DAC28540-5847-4E02-835F-4DE37388100A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1FFD7649-D3B1-4AE0-8D60-567B87765A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1968" y="2048679"/>
            <a:ext cx="8607552" cy="2430951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89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adroTexto 32">
            <a:extLst>
              <a:ext uri="{FF2B5EF4-FFF2-40B4-BE49-F238E27FC236}">
                <a16:creationId xmlns:a16="http://schemas.microsoft.com/office/drawing/2014/main" id="{A50411BE-EE72-0865-1EFF-6DEF36690398}"/>
              </a:ext>
            </a:extLst>
          </p:cNvPr>
          <p:cNvSpPr txBox="1"/>
          <p:nvPr/>
        </p:nvSpPr>
        <p:spPr>
          <a:xfrm>
            <a:off x="768480" y="2369626"/>
            <a:ext cx="76070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Desarrollar un módulo de seguridad por software que garantice la protección y gestión de claves criptográficas, así como la ejecución segura de operaciones de firma digital.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AE4658-605A-4904-9C0D-1A89B71FF79C}"/>
              </a:ext>
            </a:extLst>
          </p:cNvPr>
          <p:cNvSpPr txBox="1"/>
          <p:nvPr/>
        </p:nvSpPr>
        <p:spPr>
          <a:xfrm>
            <a:off x="103792" y="1128850"/>
            <a:ext cx="4217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OBJETIVO GENERAL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50CD41E-2924-4A72-9900-36EC92C9DE15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301BC82-F8E7-47A7-864B-BA6039355280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5A19F9F1-124F-424E-9608-6BCEAC0FFA6A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FEE1D42-B1F5-4F5C-A60B-A80547430408}"/>
              </a:ext>
            </a:extLst>
          </p:cNvPr>
          <p:cNvCxnSpPr>
            <a:cxnSpLocks/>
          </p:cNvCxnSpPr>
          <p:nvPr/>
        </p:nvCxnSpPr>
        <p:spPr>
          <a:xfrm>
            <a:off x="233680" y="303472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7D8DFFC8-FCE6-4CB6-999A-BE1A25E4F8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1968" y="2048679"/>
            <a:ext cx="8607552" cy="2430951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000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9E66-8C39-5FDF-8DA7-12A1FBCB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3">
            <a:extLst>
              <a:ext uri="{FF2B5EF4-FFF2-40B4-BE49-F238E27FC236}">
                <a16:creationId xmlns:a16="http://schemas.microsoft.com/office/drawing/2014/main" id="{67694474-3DD1-4838-90A0-70E1BFABCD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3693" y="5561031"/>
            <a:ext cx="8018667" cy="921533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54" name="AutoShape 3">
            <a:extLst>
              <a:ext uri="{FF2B5EF4-FFF2-40B4-BE49-F238E27FC236}">
                <a16:creationId xmlns:a16="http://schemas.microsoft.com/office/drawing/2014/main" id="{95C4AFF6-1E0B-4C0B-A61A-55192DD5CA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5037" y="4284365"/>
            <a:ext cx="8036147" cy="981917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44" name="AutoShape 3">
            <a:extLst>
              <a:ext uri="{FF2B5EF4-FFF2-40B4-BE49-F238E27FC236}">
                <a16:creationId xmlns:a16="http://schemas.microsoft.com/office/drawing/2014/main" id="{BB9A34B8-7CCE-47A1-8604-B1DE132EA1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4026" y="2698090"/>
            <a:ext cx="7979477" cy="1227500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43" name="AutoShape 3">
            <a:extLst>
              <a:ext uri="{FF2B5EF4-FFF2-40B4-BE49-F238E27FC236}">
                <a16:creationId xmlns:a16="http://schemas.microsoft.com/office/drawing/2014/main" id="{AC9536F3-09FA-4085-8BC4-2928739EA9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3693" y="1065413"/>
            <a:ext cx="8039810" cy="1309640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357AB80E-D232-A5C5-4811-898918B95ED9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869504" y="5728627"/>
            <a:ext cx="878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s-MX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" name="AutoShape 14">
            <a:extLst>
              <a:ext uri="{FF2B5EF4-FFF2-40B4-BE49-F238E27FC236}">
                <a16:creationId xmlns:a16="http://schemas.microsoft.com/office/drawing/2014/main" id="{C3CAB34F-F331-A137-4044-86DA92C831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950" y="1460817"/>
            <a:ext cx="633482" cy="496888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F447765-D37C-B173-7658-134C760DBF02}"/>
              </a:ext>
            </a:extLst>
          </p:cNvPr>
          <p:cNvSpPr txBox="1"/>
          <p:nvPr/>
        </p:nvSpPr>
        <p:spPr>
          <a:xfrm>
            <a:off x="851637" y="1110639"/>
            <a:ext cx="7783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conceptos, normativas y tecnologías asociados a los módulos de seguridad por software y la gestión de claves criptográficas.</a:t>
            </a:r>
            <a:endParaRPr lang="es-MX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3070D6B-31CD-F0ED-3001-2885C363A394}"/>
              </a:ext>
            </a:extLst>
          </p:cNvPr>
          <p:cNvSpPr txBox="1"/>
          <p:nvPr/>
        </p:nvSpPr>
        <p:spPr>
          <a:xfrm>
            <a:off x="878848" y="2716732"/>
            <a:ext cx="7824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Diseñar el módulo de seguridad por software a partir de la definición de los requisitos, la arquitectura y el modelo de datos.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C5181AB-F0B4-1299-2046-5D9885846973}"/>
              </a:ext>
            </a:extLst>
          </p:cNvPr>
          <p:cNvSpPr txBox="1"/>
          <p:nvPr/>
        </p:nvSpPr>
        <p:spPr>
          <a:xfrm>
            <a:off x="878438" y="4374315"/>
            <a:ext cx="7898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Implementar el módulo de seguridad por software según el diseño establecido.</a:t>
            </a:r>
            <a:endParaRPr lang="es-MX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22A5E90-6F97-4649-1277-25BF4FD2B16C}"/>
              </a:ext>
            </a:extLst>
          </p:cNvPr>
          <p:cNvSpPr txBox="1"/>
          <p:nvPr/>
        </p:nvSpPr>
        <p:spPr>
          <a:xfrm>
            <a:off x="880520" y="5618447"/>
            <a:ext cx="7802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Validar el módulo desarrollado mediante pruebas unitarias, de integración y de sistema.</a:t>
            </a:r>
            <a:endParaRPr lang="es-MX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83B736D-50FA-459E-B14D-1AC1F3667C74}"/>
              </a:ext>
            </a:extLst>
          </p:cNvPr>
          <p:cNvGrpSpPr/>
          <p:nvPr/>
        </p:nvGrpSpPr>
        <p:grpSpPr>
          <a:xfrm>
            <a:off x="173908" y="5810298"/>
            <a:ext cx="633482" cy="496888"/>
            <a:chOff x="725061" y="6017202"/>
            <a:chExt cx="633482" cy="496888"/>
          </a:xfrm>
        </p:grpSpPr>
        <p:sp>
          <p:nvSpPr>
            <p:cNvPr id="58" name="AutoShape 14">
              <a:extLst>
                <a:ext uri="{FF2B5EF4-FFF2-40B4-BE49-F238E27FC236}">
                  <a16:creationId xmlns:a16="http://schemas.microsoft.com/office/drawing/2014/main" id="{655507F6-A2FA-45C2-B03B-E743A520C2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25061" y="6017202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Box 31">
              <a:extLst>
                <a:ext uri="{FF2B5EF4-FFF2-40B4-BE49-F238E27FC236}">
                  <a16:creationId xmlns:a16="http://schemas.microsoft.com/office/drawing/2014/main" id="{8D557514-A58F-BD52-1DC6-E857E9DC3E5F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798191" y="603704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51" name="Text Box 32">
            <a:extLst>
              <a:ext uri="{FF2B5EF4-FFF2-40B4-BE49-F238E27FC236}">
                <a16:creationId xmlns:a16="http://schemas.microsoft.com/office/drawing/2014/main" id="{8B504A31-D9F7-8F0C-1C3C-F2D171625990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60981" y="1487694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C3612CA-940D-462A-A828-7AEA6A996C51}"/>
              </a:ext>
            </a:extLst>
          </p:cNvPr>
          <p:cNvGrpSpPr/>
          <p:nvPr/>
        </p:nvGrpSpPr>
        <p:grpSpPr>
          <a:xfrm>
            <a:off x="180523" y="3094550"/>
            <a:ext cx="633482" cy="496888"/>
            <a:chOff x="778811" y="3652422"/>
            <a:chExt cx="633482" cy="496888"/>
          </a:xfrm>
        </p:grpSpPr>
        <p:sp>
          <p:nvSpPr>
            <p:cNvPr id="49" name="AutoShape 14">
              <a:extLst>
                <a:ext uri="{FF2B5EF4-FFF2-40B4-BE49-F238E27FC236}">
                  <a16:creationId xmlns:a16="http://schemas.microsoft.com/office/drawing/2014/main" id="{C0719BBB-467E-41B2-A27E-6EDDAE451B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8811" y="3652422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Box 33">
              <a:extLst>
                <a:ext uri="{FF2B5EF4-FFF2-40B4-BE49-F238E27FC236}">
                  <a16:creationId xmlns:a16="http://schemas.microsoft.com/office/drawing/2014/main" id="{0C762D53-11A2-DBE1-C9B1-15D0186670AD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873615" y="367369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461EC3F-DA98-49BE-B93C-9A1DF771826F}"/>
              </a:ext>
            </a:extLst>
          </p:cNvPr>
          <p:cNvGrpSpPr/>
          <p:nvPr/>
        </p:nvGrpSpPr>
        <p:grpSpPr>
          <a:xfrm>
            <a:off x="171975" y="4572555"/>
            <a:ext cx="633482" cy="496888"/>
            <a:chOff x="826825" y="4982651"/>
            <a:chExt cx="633482" cy="496888"/>
          </a:xfrm>
        </p:grpSpPr>
        <p:sp>
          <p:nvSpPr>
            <p:cNvPr id="56" name="AutoShape 14">
              <a:extLst>
                <a:ext uri="{FF2B5EF4-FFF2-40B4-BE49-F238E27FC236}">
                  <a16:creationId xmlns:a16="http://schemas.microsoft.com/office/drawing/2014/main" id="{5F1465A8-973F-4994-91DE-D98062C778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26825" y="4982651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Box 34">
              <a:extLst>
                <a:ext uri="{FF2B5EF4-FFF2-40B4-BE49-F238E27FC236}">
                  <a16:creationId xmlns:a16="http://schemas.microsoft.com/office/drawing/2014/main" id="{439C4861-E699-61A1-433F-3E260B01C7CF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923614" y="4987958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AF1FF86-6B1D-4AFD-9E6F-43D02668CBA3}"/>
              </a:ext>
            </a:extLst>
          </p:cNvPr>
          <p:cNvSpPr txBox="1"/>
          <p:nvPr/>
        </p:nvSpPr>
        <p:spPr>
          <a:xfrm>
            <a:off x="-201298" y="227016"/>
            <a:ext cx="58771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OBJETIVOS ESPECÍFICOS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34ED366-6737-468C-96AA-588163128773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44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4" grpId="0" animBg="1"/>
      <p:bldP spid="44" grpId="0" animBg="1"/>
      <p:bldP spid="43" grpId="0" animBg="1"/>
      <p:bldP spid="34" grpId="0"/>
      <p:bldP spid="37" grpId="0" animBg="1"/>
      <p:bldP spid="45" grpId="0"/>
      <p:bldP spid="46" grpId="0"/>
      <p:bldP spid="47" grpId="0"/>
      <p:bldP spid="48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26AE4658-605A-4904-9C0D-1A89B71FF79C}"/>
              </a:ext>
            </a:extLst>
          </p:cNvPr>
          <p:cNvSpPr txBox="1"/>
          <p:nvPr/>
        </p:nvSpPr>
        <p:spPr>
          <a:xfrm>
            <a:off x="-201299" y="227016"/>
            <a:ext cx="62788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TECNOLOGÍAS SELECCIONADAS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649BE28-CE59-4B7D-9A97-3BDB02B3DE67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50CD41E-2924-4A72-9900-36EC92C9DE15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301BC82-F8E7-47A7-864B-BA6039355280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5A19F9F1-124F-424E-9608-6BCEAC0FFA6A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3050EF-34F3-4868-849A-AD217839E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82" y="1226498"/>
            <a:ext cx="1283406" cy="12834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02B6DE-CF8F-4244-8AFD-B5E304910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57" y="4244333"/>
            <a:ext cx="1219048" cy="12190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8BDFAA0-A7E7-43E5-8F28-65B5DED1D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70" y="4196456"/>
            <a:ext cx="1219048" cy="121904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E3214A5-5C1C-4AFD-ACA3-0C7095A559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694" y="1394733"/>
            <a:ext cx="1115171" cy="1115171"/>
          </a:xfrm>
          <a:prstGeom prst="rect">
            <a:avLst/>
          </a:prstGeom>
        </p:spPr>
      </p:pic>
      <p:sp>
        <p:nvSpPr>
          <p:cNvPr id="19" name="AutoShape 3">
            <a:extLst>
              <a:ext uri="{FF2B5EF4-FFF2-40B4-BE49-F238E27FC236}">
                <a16:creationId xmlns:a16="http://schemas.microsoft.com/office/drawing/2014/main" id="{7865F3AC-A56E-4245-81E7-CDCF65A940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7767" y="1283784"/>
            <a:ext cx="2530764" cy="1348534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36B9191-A6ED-402C-8045-454E855E4B79}"/>
              </a:ext>
            </a:extLst>
          </p:cNvPr>
          <p:cNvSpPr txBox="1"/>
          <p:nvPr/>
        </p:nvSpPr>
        <p:spPr>
          <a:xfrm>
            <a:off x="620064" y="2673036"/>
            <a:ext cx="3368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Marco de desarrollo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algn="just"/>
            <a:r>
              <a:rPr lang="es-MX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Spring </a:t>
            </a:r>
            <a:r>
              <a:rPr lang="es-MX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</a:t>
            </a:r>
            <a:r>
              <a:rPr lang="es-MX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(Java)</a:t>
            </a:r>
          </a:p>
        </p:txBody>
      </p:sp>
      <p:sp>
        <p:nvSpPr>
          <p:cNvPr id="21" name="AutoShape 3">
            <a:extLst>
              <a:ext uri="{FF2B5EF4-FFF2-40B4-BE49-F238E27FC236}">
                <a16:creationId xmlns:a16="http://schemas.microsoft.com/office/drawing/2014/main" id="{9E7E4BAB-C391-4DDB-AC8B-7F20AEFBF7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5312" y="4155738"/>
            <a:ext cx="2530764" cy="1348534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81AC7A83-3BA8-4466-AAD0-AD699E6413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48006" y="1283784"/>
            <a:ext cx="2530764" cy="1348534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A2060F7-7958-436B-9A72-B1EF88EA27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57" y="1431188"/>
            <a:ext cx="1115169" cy="1115169"/>
          </a:xfrm>
          <a:prstGeom prst="rect">
            <a:avLst/>
          </a:prstGeom>
        </p:spPr>
      </p:pic>
      <p:sp>
        <p:nvSpPr>
          <p:cNvPr id="25" name="AutoShape 3">
            <a:extLst>
              <a:ext uri="{FF2B5EF4-FFF2-40B4-BE49-F238E27FC236}">
                <a16:creationId xmlns:a16="http://schemas.microsoft.com/office/drawing/2014/main" id="{7F5252FA-2988-4A7E-9880-C310947BF2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48006" y="4155738"/>
            <a:ext cx="2530764" cy="1348534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4A699E-BE28-4414-B6EE-D25B98AEFB09}"/>
              </a:ext>
            </a:extLst>
          </p:cNvPr>
          <p:cNvSpPr txBox="1"/>
          <p:nvPr/>
        </p:nvSpPr>
        <p:spPr>
          <a:xfrm>
            <a:off x="5348006" y="2673036"/>
            <a:ext cx="3000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Base de datos:</a:t>
            </a:r>
          </a:p>
          <a:p>
            <a:pPr lvl="0" algn="just"/>
            <a:r>
              <a:rPr lang="es-MX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PostgreSQL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07EB3F6-1BEC-4E2C-A4FA-EE4B9DE75984}"/>
              </a:ext>
            </a:extLst>
          </p:cNvPr>
          <p:cNvSpPr txBox="1"/>
          <p:nvPr/>
        </p:nvSpPr>
        <p:spPr>
          <a:xfrm>
            <a:off x="695615" y="5539481"/>
            <a:ext cx="3775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Proveedor de identidad:</a:t>
            </a:r>
          </a:p>
          <a:p>
            <a:pPr lvl="0" algn="just"/>
            <a:r>
              <a:rPr lang="es-MX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Keycloak</a:t>
            </a:r>
            <a:endParaRPr lang="es-MX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F207CD5-34C0-4588-85A6-D670322F6BCC}"/>
              </a:ext>
            </a:extLst>
          </p:cNvPr>
          <p:cNvSpPr txBox="1"/>
          <p:nvPr/>
        </p:nvSpPr>
        <p:spPr>
          <a:xfrm>
            <a:off x="5426492" y="5539481"/>
            <a:ext cx="2091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Despliegue:</a:t>
            </a:r>
          </a:p>
          <a:p>
            <a:pPr lvl="0" algn="just"/>
            <a:r>
              <a:rPr lang="es-MX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272551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C380-6FCA-10D6-6AC0-2479C194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D98C9A2C-AAA4-474D-A23C-7308E4CB5080}"/>
              </a:ext>
            </a:extLst>
          </p:cNvPr>
          <p:cNvSpPr txBox="1"/>
          <p:nvPr/>
        </p:nvSpPr>
        <p:spPr>
          <a:xfrm>
            <a:off x="-201298" y="227016"/>
            <a:ext cx="82073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DIAGRAMA DE CASOS DE USO DEL SISTEMA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AC4E33D-50C5-4C5B-B12B-AF7E98DF753C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E03EED7F-33DF-4297-9C09-F48F9241E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85" y="1249685"/>
            <a:ext cx="8698629" cy="47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2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FC18-4E7D-7E7C-E6F4-276303FA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C1B269-2E5E-4D6E-8ACD-2FB61B495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" y="1204731"/>
            <a:ext cx="8705088" cy="5740694"/>
          </a:xfrm>
          <a:prstGeom prst="rect">
            <a:avLst/>
          </a:prstGeom>
        </p:spPr>
      </p:pic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EF9BB6DC-2CD3-42C8-AE03-2005542F8172}"/>
              </a:ext>
            </a:extLst>
          </p:cNvPr>
          <p:cNvSpPr/>
          <p:nvPr/>
        </p:nvSpPr>
        <p:spPr>
          <a:xfrm>
            <a:off x="305012" y="821423"/>
            <a:ext cx="5621279" cy="383308"/>
          </a:xfrm>
          <a:prstGeom prst="homePlate">
            <a:avLst/>
          </a:prstGeom>
          <a:solidFill>
            <a:srgbClr val="D5D6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F63592-02EE-49DA-99A6-0052CDD976E6}"/>
              </a:ext>
            </a:extLst>
          </p:cNvPr>
          <p:cNvSpPr txBox="1"/>
          <p:nvPr/>
        </p:nvSpPr>
        <p:spPr>
          <a:xfrm>
            <a:off x="219456" y="806166"/>
            <a:ext cx="5535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Patrón N-Capas basado en responsabilidades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90AD72-E436-4FE0-8B63-2FBBF73B660C}"/>
              </a:ext>
            </a:extLst>
          </p:cNvPr>
          <p:cNvSpPr txBox="1"/>
          <p:nvPr/>
        </p:nvSpPr>
        <p:spPr>
          <a:xfrm>
            <a:off x="-201298" y="135576"/>
            <a:ext cx="604791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ARQUITECTURA DEL SISTEMA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0C82D12-9D0D-4DC0-B744-C0E134F6CEC2}"/>
              </a:ext>
            </a:extLst>
          </p:cNvPr>
          <p:cNvCxnSpPr>
            <a:cxnSpLocks/>
          </p:cNvCxnSpPr>
          <p:nvPr/>
        </p:nvCxnSpPr>
        <p:spPr>
          <a:xfrm>
            <a:off x="233680" y="6461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55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9DB9-1442-8810-F3BD-1B615612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244811A-B510-4974-A897-241F5C5F0B14}"/>
              </a:ext>
            </a:extLst>
          </p:cNvPr>
          <p:cNvSpPr txBox="1"/>
          <p:nvPr/>
        </p:nvSpPr>
        <p:spPr>
          <a:xfrm>
            <a:off x="-201298" y="227016"/>
            <a:ext cx="55149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FLUJO DE AUTENTICACIÓN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779CA3C-41F7-47B4-8041-C8EF0DAC10A7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743DB821-B1D0-4BF1-8C2B-CEC49A8F1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5668"/>
            <a:ext cx="9144000" cy="478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3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A9A6B52-F7B4-4868-BF61-CE212C1E9448}"/>
              </a:ext>
            </a:extLst>
          </p:cNvPr>
          <p:cNvSpPr txBox="1"/>
          <p:nvPr/>
        </p:nvSpPr>
        <p:spPr>
          <a:xfrm>
            <a:off x="-201298" y="227016"/>
            <a:ext cx="55048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MODELO DE BASE DE DATOS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D917BE4-12C9-45BC-995E-3A73375EB625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F2FA463A-CDDB-44E1-B254-66778E01D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6" y="1163516"/>
            <a:ext cx="8873423" cy="539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42A3-01FB-7A22-C022-4242B983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6C04474-9AC3-4FBF-9FA2-A834CD571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077" y="50999"/>
            <a:ext cx="6169892" cy="680700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506BFCB-9EE3-48D1-931D-46E7B5F7C188}"/>
              </a:ext>
            </a:extLst>
          </p:cNvPr>
          <p:cNvSpPr/>
          <p:nvPr/>
        </p:nvSpPr>
        <p:spPr>
          <a:xfrm>
            <a:off x="375920" y="972264"/>
            <a:ext cx="2976880" cy="714277"/>
          </a:xfrm>
          <a:prstGeom prst="rect">
            <a:avLst/>
          </a:prstGeom>
          <a:solidFill>
            <a:srgbClr val="0EC295"/>
          </a:solidFill>
          <a:ln w="38100"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D15B130-CE0E-40B4-83F1-759578C85AD0}"/>
              </a:ext>
            </a:extLst>
          </p:cNvPr>
          <p:cNvSpPr txBox="1"/>
          <p:nvPr/>
        </p:nvSpPr>
        <p:spPr>
          <a:xfrm>
            <a:off x="174957" y="978655"/>
            <a:ext cx="3438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CIFRADO DE CLAVES </a:t>
            </a:r>
          </a:p>
          <a:p>
            <a:pPr algn="ctr"/>
            <a:r>
              <a:rPr lang="es-ES_tradnl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PRIVADAS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Flecha: pentágono 1">
            <a:extLst>
              <a:ext uri="{FF2B5EF4-FFF2-40B4-BE49-F238E27FC236}">
                <a16:creationId xmlns:a16="http://schemas.microsoft.com/office/drawing/2014/main" id="{C3A3A46C-40EB-4A24-A646-64AF836A5319}"/>
              </a:ext>
            </a:extLst>
          </p:cNvPr>
          <p:cNvSpPr/>
          <p:nvPr/>
        </p:nvSpPr>
        <p:spPr>
          <a:xfrm>
            <a:off x="528031" y="2607806"/>
            <a:ext cx="2273849" cy="594706"/>
          </a:xfrm>
          <a:prstGeom prst="homePlate">
            <a:avLst/>
          </a:prstGeom>
          <a:solidFill>
            <a:srgbClr val="0EC295"/>
          </a:solidFill>
          <a:ln w="38100"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FF7822-961B-4BCC-A3B0-A4E05B0B8DD0}"/>
              </a:ext>
            </a:extLst>
          </p:cNvPr>
          <p:cNvSpPr txBox="1"/>
          <p:nvPr/>
        </p:nvSpPr>
        <p:spPr>
          <a:xfrm>
            <a:off x="428914" y="2705104"/>
            <a:ext cx="2146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AES-256-GCM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74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2246-C661-244C-2787-6AFE191C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095F5D-7C63-49FC-813C-C5AA49A85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9" y="1043642"/>
            <a:ext cx="8876584" cy="519869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68F9510-AAD2-41F0-8653-D9048D0738BA}"/>
              </a:ext>
            </a:extLst>
          </p:cNvPr>
          <p:cNvSpPr txBox="1"/>
          <p:nvPr/>
        </p:nvSpPr>
        <p:spPr>
          <a:xfrm>
            <a:off x="-201298" y="227016"/>
            <a:ext cx="55962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PROCESO DE FIRMA DIGITAL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2BF5C47-F9DB-4084-93E3-1B2CF1FF415C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38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267B-3A59-245E-DD0A-7F8288C7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9AA8184A-6363-4FD3-ACD4-11D7A4462A83}"/>
              </a:ext>
            </a:extLst>
          </p:cNvPr>
          <p:cNvSpPr txBox="1"/>
          <p:nvPr/>
        </p:nvSpPr>
        <p:spPr>
          <a:xfrm>
            <a:off x="-201298" y="227016"/>
            <a:ext cx="50476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MODELO DE DESPLIEGUE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7CEE535-70C3-4FC5-859B-55359944CDA8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10D6FCF-E1E5-4AA6-8ABA-9ADC2E83E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66" y="771092"/>
            <a:ext cx="7794897" cy="60248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849096E-8F21-4C09-AD28-06C1C89DF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23" y="813167"/>
            <a:ext cx="8268354" cy="59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60CB6-3870-4CE8-0035-D296BFE7C183}"/>
              </a:ext>
            </a:extLst>
          </p:cNvPr>
          <p:cNvSpPr txBox="1"/>
          <p:nvPr/>
        </p:nvSpPr>
        <p:spPr>
          <a:xfrm>
            <a:off x="2401452" y="2459504"/>
            <a:ext cx="403629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ESTRATEGIA</a:t>
            </a:r>
          </a:p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VALIDACIÓN</a:t>
            </a:r>
            <a:endParaRPr lang="es-E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79FC1E-EFFF-D4D2-34B2-F0C7CC16EAAB}"/>
              </a:ext>
            </a:extLst>
          </p:cNvPr>
          <p:cNvCxnSpPr>
            <a:cxnSpLocks/>
          </p:cNvCxnSpPr>
          <p:nvPr/>
        </p:nvCxnSpPr>
        <p:spPr>
          <a:xfrm>
            <a:off x="678912" y="1708727"/>
            <a:ext cx="7712363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6FE1D9-6461-752C-DB8D-E34D17AB7F40}"/>
              </a:ext>
            </a:extLst>
          </p:cNvPr>
          <p:cNvCxnSpPr>
            <a:cxnSpLocks/>
          </p:cNvCxnSpPr>
          <p:nvPr/>
        </p:nvCxnSpPr>
        <p:spPr>
          <a:xfrm flipV="1">
            <a:off x="1542549" y="5333425"/>
            <a:ext cx="6215997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288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1CC7-4909-2CD2-EB20-E5EDF73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4236BD17-AA7A-4E1C-973F-41DFD75B7F83}"/>
              </a:ext>
            </a:extLst>
          </p:cNvPr>
          <p:cNvSpPr txBox="1"/>
          <p:nvPr/>
        </p:nvSpPr>
        <p:spPr>
          <a:xfrm>
            <a:off x="-201299" y="227016"/>
            <a:ext cx="47732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PRUEBAS UNITARIAS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7CD0621-49C1-4969-BD5F-02C4D01E3119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30C8BE0A-9CB4-41C7-BE85-176307C6209E}"/>
              </a:ext>
            </a:extLst>
          </p:cNvPr>
          <p:cNvSpPr txBox="1"/>
          <p:nvPr/>
        </p:nvSpPr>
        <p:spPr>
          <a:xfrm>
            <a:off x="890846" y="1241577"/>
            <a:ext cx="7370253" cy="224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Herramientas utilizadas: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JUnit</a:t>
            </a:r>
            <a:r>
              <a:rPr lang="es-MX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Entorno de pruebas de Java.</a:t>
            </a: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Mockito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Simula dependencias externas en pruebas aisladas.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335E8C-C42A-46A7-8BAE-755709C74B39}"/>
              </a:ext>
            </a:extLst>
          </p:cNvPr>
          <p:cNvSpPr txBox="1"/>
          <p:nvPr/>
        </p:nvSpPr>
        <p:spPr>
          <a:xfrm>
            <a:off x="1278776" y="3880324"/>
            <a:ext cx="680951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Aspectos evaluados</a:t>
            </a: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Cifrado y descifrado de claves.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Generación y verificación de firmas.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Transiciones del ciclo de vida de claves.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Validaciones de negocio (tamaños, estados).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63E5E889-EE95-4B44-AC23-DD6C029142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4547" y="1241579"/>
            <a:ext cx="7370253" cy="2046566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B85B677-DE17-428B-A633-7717C0B378C6}"/>
              </a:ext>
            </a:extLst>
          </p:cNvPr>
          <p:cNvCxnSpPr>
            <a:cxnSpLocks/>
          </p:cNvCxnSpPr>
          <p:nvPr/>
        </p:nvCxnSpPr>
        <p:spPr>
          <a:xfrm>
            <a:off x="1023201" y="4017046"/>
            <a:ext cx="0" cy="219456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311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1CC7-4909-2CD2-EB20-E5EDF73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4236BD17-AA7A-4E1C-973F-41DFD75B7F83}"/>
              </a:ext>
            </a:extLst>
          </p:cNvPr>
          <p:cNvSpPr txBox="1"/>
          <p:nvPr/>
        </p:nvSpPr>
        <p:spPr>
          <a:xfrm>
            <a:off x="-201299" y="227016"/>
            <a:ext cx="47732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PRUEBAS UNITARIAS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7CD0621-49C1-4969-BD5F-02C4D01E3119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82ABA01-0A0C-4F38-81B1-4088D69AC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36538"/>
              </p:ext>
            </p:extLst>
          </p:nvPr>
        </p:nvGraphicFramePr>
        <p:xfrm>
          <a:off x="368533" y="1938334"/>
          <a:ext cx="8549640" cy="3419211"/>
        </p:xfrm>
        <a:graphic>
          <a:graphicData uri="http://schemas.openxmlformats.org/drawingml/2006/table">
            <a:tbl>
              <a:tblPr/>
              <a:tblGrid>
                <a:gridCol w="1220122">
                  <a:extLst>
                    <a:ext uri="{9D8B030D-6E8A-4147-A177-3AD203B41FA5}">
                      <a16:colId xmlns:a16="http://schemas.microsoft.com/office/drawing/2014/main" val="48197476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8757293"/>
                    </a:ext>
                  </a:extLst>
                </a:gridCol>
                <a:gridCol w="1307684">
                  <a:extLst>
                    <a:ext uri="{9D8B030D-6E8A-4147-A177-3AD203B41FA5}">
                      <a16:colId xmlns:a16="http://schemas.microsoft.com/office/drawing/2014/main" val="2714525444"/>
                    </a:ext>
                  </a:extLst>
                </a:gridCol>
                <a:gridCol w="4497834">
                  <a:extLst>
                    <a:ext uri="{9D8B030D-6E8A-4147-A177-3AD203B41FA5}">
                      <a16:colId xmlns:a16="http://schemas.microsoft.com/office/drawing/2014/main" val="1638336130"/>
                    </a:ext>
                  </a:extLst>
                </a:gridCol>
              </a:tblGrid>
              <a:tr h="62256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Iteración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ejecutadas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fallidas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Causa principal de fallo</a:t>
                      </a:r>
                      <a:endParaRPr lang="es-CU" sz="2200" b="0" i="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47439"/>
                  </a:ext>
                </a:extLst>
              </a:tr>
              <a:tr h="127273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Errores de configuración del entorno de pruebas.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Errores de compatibilidad con la versión de java.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605747"/>
                  </a:ext>
                </a:extLst>
              </a:tr>
              <a:tr h="56054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Manejo incorrecto de excepciones.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13080"/>
                  </a:ext>
                </a:extLst>
              </a:tr>
              <a:tr h="43312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lang="es-CU" sz="2200" b="0" i="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</a:t>
                      </a:r>
                      <a:endParaRPr lang="es-CU" sz="2200" b="0" i="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98369"/>
                  </a:ext>
                </a:extLst>
              </a:tr>
            </a:tbl>
          </a:graphicData>
        </a:graphic>
      </p:graphicFrame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18684E-CE1C-49D0-B635-7671DEF6B917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7A8FF2F-0970-49E9-83AD-108EA9D6310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B3AA289B-AE84-439C-8172-FBD8B3ACFB8B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69796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1CC7-4909-2CD2-EB20-E5EDF73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4236BD17-AA7A-4E1C-973F-41DFD75B7F83}"/>
              </a:ext>
            </a:extLst>
          </p:cNvPr>
          <p:cNvSpPr txBox="1"/>
          <p:nvPr/>
        </p:nvSpPr>
        <p:spPr>
          <a:xfrm>
            <a:off x="-201299" y="227016"/>
            <a:ext cx="56045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PRUEBAS DE INTEGRACIÓN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7CD0621-49C1-4969-BD5F-02C4D01E3119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8BCBC4B5-CA73-4441-ABF5-4C078FD10CA4}"/>
              </a:ext>
            </a:extLst>
          </p:cNvPr>
          <p:cNvSpPr txBox="1"/>
          <p:nvPr/>
        </p:nvSpPr>
        <p:spPr>
          <a:xfrm>
            <a:off x="890845" y="1103037"/>
            <a:ext cx="7362307" cy="18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Herramientas utilizadas: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JUnit</a:t>
            </a:r>
            <a:r>
              <a:rPr lang="es-MX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 Entorno de pruebas de 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MockMvc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Simula peticiones HTTP.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Spring Security Test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Simula tokens y roles.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C14039D-620D-4CF5-AB07-CCC92BEE9543}"/>
              </a:ext>
            </a:extLst>
          </p:cNvPr>
          <p:cNvCxnSpPr>
            <a:cxnSpLocks/>
          </p:cNvCxnSpPr>
          <p:nvPr/>
        </p:nvCxnSpPr>
        <p:spPr>
          <a:xfrm>
            <a:off x="866183" y="3786137"/>
            <a:ext cx="0" cy="256032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10C88C5-EC6B-4A20-9084-660FC7699B53}"/>
              </a:ext>
            </a:extLst>
          </p:cNvPr>
          <p:cNvSpPr txBox="1"/>
          <p:nvPr/>
        </p:nvSpPr>
        <p:spPr>
          <a:xfrm>
            <a:off x="1057100" y="3642987"/>
            <a:ext cx="680951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Aspectos evaluados</a:t>
            </a: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Arranque del contexto de la aplicación.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Creación y consulta de claves vía API 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Firma y verificación digital.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Control de acceso por roles.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Flujos HTTP.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0EBC643D-64D7-4816-BE7F-8D74D5B552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1492" y="1103037"/>
            <a:ext cx="7370253" cy="2046566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7110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1CC7-4909-2CD2-EB20-E5EDF73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adroTexto 53">
            <a:extLst>
              <a:ext uri="{FF2B5EF4-FFF2-40B4-BE49-F238E27FC236}">
                <a16:creationId xmlns:a16="http://schemas.microsoft.com/office/drawing/2014/main" id="{4236BD17-AA7A-4E1C-973F-41DFD75B7F83}"/>
              </a:ext>
            </a:extLst>
          </p:cNvPr>
          <p:cNvSpPr txBox="1"/>
          <p:nvPr/>
        </p:nvSpPr>
        <p:spPr>
          <a:xfrm>
            <a:off x="-201299" y="227016"/>
            <a:ext cx="56045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PRUEBAS DE INTEGRACIÓN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7CD0621-49C1-4969-BD5F-02C4D01E3119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A96D429-E3B8-4549-899F-7577469EA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972056"/>
              </p:ext>
            </p:extLst>
          </p:nvPr>
        </p:nvGraphicFramePr>
        <p:xfrm>
          <a:off x="353505" y="2091948"/>
          <a:ext cx="8549640" cy="2926917"/>
        </p:xfrm>
        <a:graphic>
          <a:graphicData uri="http://schemas.openxmlformats.org/drawingml/2006/table">
            <a:tbl>
              <a:tblPr/>
              <a:tblGrid>
                <a:gridCol w="1293857">
                  <a:extLst>
                    <a:ext uri="{9D8B030D-6E8A-4147-A177-3AD203B41FA5}">
                      <a16:colId xmlns:a16="http://schemas.microsoft.com/office/drawing/2014/main" val="481974765"/>
                    </a:ext>
                  </a:extLst>
                </a:gridCol>
                <a:gridCol w="1493002">
                  <a:extLst>
                    <a:ext uri="{9D8B030D-6E8A-4147-A177-3AD203B41FA5}">
                      <a16:colId xmlns:a16="http://schemas.microsoft.com/office/drawing/2014/main" val="2728757293"/>
                    </a:ext>
                  </a:extLst>
                </a:gridCol>
                <a:gridCol w="1264947">
                  <a:extLst>
                    <a:ext uri="{9D8B030D-6E8A-4147-A177-3AD203B41FA5}">
                      <a16:colId xmlns:a16="http://schemas.microsoft.com/office/drawing/2014/main" val="2714525444"/>
                    </a:ext>
                  </a:extLst>
                </a:gridCol>
                <a:gridCol w="4497834">
                  <a:extLst>
                    <a:ext uri="{9D8B030D-6E8A-4147-A177-3AD203B41FA5}">
                      <a16:colId xmlns:a16="http://schemas.microsoft.com/office/drawing/2014/main" val="1638336130"/>
                    </a:ext>
                  </a:extLst>
                </a:gridCol>
              </a:tblGrid>
              <a:tr h="61492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Iteración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ejecutadas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fallidas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Causas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47439"/>
                  </a:ext>
                </a:extLst>
              </a:tr>
              <a:tr h="136979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27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Errores de configuración</a:t>
                      </a:r>
                      <a:r>
                        <a:rPr lang="en-U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ó</a:t>
                      </a: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n del entorno de pruebas.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U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Respuesta esperada incorrecta en el flujo de rotación de claves.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605747"/>
                  </a:ext>
                </a:extLst>
              </a:tr>
              <a:tr h="52674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s-CU" sz="2200" b="0" i="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27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ES" sz="2200" b="0" i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es-CU" sz="2200" b="0" i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13080"/>
                  </a:ext>
                </a:extLst>
              </a:tr>
            </a:tbl>
          </a:graphicData>
        </a:graphic>
      </p:graphicFrame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2F6492B-BD4A-4450-B333-646E1A09994A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26F06C1-1CA8-47F8-AC05-B2363589E6CE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B8BF93B0-6248-4949-8863-973EACB02820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59065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1CC7-4909-2CD2-EB20-E5EDF73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7CD0621-49C1-4969-BD5F-02C4D01E3119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30C8BE0A-9CB4-41C7-BE85-176307C6209E}"/>
              </a:ext>
            </a:extLst>
          </p:cNvPr>
          <p:cNvSpPr txBox="1"/>
          <p:nvPr/>
        </p:nvSpPr>
        <p:spPr>
          <a:xfrm>
            <a:off x="985333" y="1362226"/>
            <a:ext cx="6609086" cy="151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 utilizada: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biblioteca de Python para construir interfaces web.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335E8C-C42A-46A7-8BAE-755709C74B39}"/>
              </a:ext>
            </a:extLst>
          </p:cNvPr>
          <p:cNvSpPr txBox="1"/>
          <p:nvPr/>
        </p:nvSpPr>
        <p:spPr>
          <a:xfrm>
            <a:off x="4260171" y="3868035"/>
            <a:ext cx="4639500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Escenarios evaluados</a:t>
            </a: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Autenticación por roles.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Gestión de claves.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Firmas digitales y verificación.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Consulta de auditoría.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C16BD37-F216-4499-B459-01D57E04A1A6}"/>
              </a:ext>
            </a:extLst>
          </p:cNvPr>
          <p:cNvCxnSpPr>
            <a:cxnSpLocks/>
          </p:cNvCxnSpPr>
          <p:nvPr/>
        </p:nvCxnSpPr>
        <p:spPr>
          <a:xfrm>
            <a:off x="3701568" y="4055458"/>
            <a:ext cx="0" cy="2010931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AutoShape 3">
            <a:extLst>
              <a:ext uri="{FF2B5EF4-FFF2-40B4-BE49-F238E27FC236}">
                <a16:creationId xmlns:a16="http://schemas.microsoft.com/office/drawing/2014/main" id="{63E5E889-EE95-4B44-AC23-DD6C029142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7230" y="1250691"/>
            <a:ext cx="7130102" cy="1783371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78441CD-C98A-4303-910A-A7907844390B}"/>
              </a:ext>
            </a:extLst>
          </p:cNvPr>
          <p:cNvSpPr txBox="1"/>
          <p:nvPr/>
        </p:nvSpPr>
        <p:spPr>
          <a:xfrm>
            <a:off x="350061" y="4114672"/>
            <a:ext cx="2958300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Escenarios</a:t>
            </a: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8F4E2027-4037-4BED-8A35-F2E033DE0D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94556" y="4146791"/>
            <a:ext cx="763351" cy="707635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F4756C5-A4A2-47BC-B57E-57E4DE24B0E7}"/>
              </a:ext>
            </a:extLst>
          </p:cNvPr>
          <p:cNvSpPr txBox="1"/>
          <p:nvPr/>
        </p:nvSpPr>
        <p:spPr>
          <a:xfrm>
            <a:off x="2467872" y="4064694"/>
            <a:ext cx="879897" cy="739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32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</a:t>
            </a:r>
            <a:endParaRPr lang="es-MX" sz="3200" b="1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07CF172-2CF3-499A-98A7-E9EF4FAA6570}"/>
              </a:ext>
            </a:extLst>
          </p:cNvPr>
          <p:cNvSpPr txBox="1"/>
          <p:nvPr/>
        </p:nvSpPr>
        <p:spPr>
          <a:xfrm>
            <a:off x="350056" y="5011922"/>
            <a:ext cx="1503306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25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Fallos</a:t>
            </a:r>
            <a:r>
              <a:rPr lang="es-MX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603E2E97-6D19-416E-A78D-46ED20EFA1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94551" y="5044041"/>
            <a:ext cx="763351" cy="707635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86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2676E6A-2C3E-404C-B98E-EDE98D1F6012}"/>
              </a:ext>
            </a:extLst>
          </p:cNvPr>
          <p:cNvSpPr txBox="1"/>
          <p:nvPr/>
        </p:nvSpPr>
        <p:spPr>
          <a:xfrm>
            <a:off x="2562576" y="4977709"/>
            <a:ext cx="879897" cy="739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32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endParaRPr lang="es-MX" sz="3200" b="1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D216314-C597-421B-9909-B88DC739D1A7}"/>
              </a:ext>
            </a:extLst>
          </p:cNvPr>
          <p:cNvSpPr txBox="1"/>
          <p:nvPr/>
        </p:nvSpPr>
        <p:spPr>
          <a:xfrm>
            <a:off x="-201299" y="227016"/>
            <a:ext cx="48564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PRUEBAS DE SISTEMA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116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3BA-221F-472A-A8FB-85FA4E19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CD925B-5965-5D02-8D61-9A2CBE8E27D0}"/>
              </a:ext>
            </a:extLst>
          </p:cNvPr>
          <p:cNvSpPr txBox="1"/>
          <p:nvPr/>
        </p:nvSpPr>
        <p:spPr>
          <a:xfrm>
            <a:off x="1123082" y="1060228"/>
            <a:ext cx="781217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El análisis de los fundamentos teóricos, normativos y tecnológicos permitió establecer el marco conceptual, regulatorio y tecnológico que sustenta el desarrollo de un módulo de seguridad por software para la gestión de claves criptográficas y la firma digital, además de determinar las tecnologías y estándares necesarios para su implementación.</a:t>
            </a:r>
          </a:p>
          <a:p>
            <a:pPr lvl="0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Se definió un módulo de seguridad por software sustentado en una arquitectura multicapa, que incorpora una </a:t>
            </a:r>
            <a:r>
              <a:rPr lang="es-ES" sz="2400" i="1" dirty="0">
                <a:latin typeface="Arial" panose="020B0604020202020204" pitchFamily="34" charset="0"/>
                <a:cs typeface="Arial" panose="020B0604020202020204" pitchFamily="34" charset="0"/>
              </a:rPr>
              <a:t>API REST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un modelo de datos estructurado y un mecanismo de control de acceso basado en roles, que garantiza niveles adecuados de seguridad, mantenibilidad e interoperabilidad.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E7BA22-ABFD-4528-8E82-4B8B718065D4}"/>
              </a:ext>
            </a:extLst>
          </p:cNvPr>
          <p:cNvSpPr txBox="1"/>
          <p:nvPr/>
        </p:nvSpPr>
        <p:spPr>
          <a:xfrm>
            <a:off x="-201298" y="227016"/>
            <a:ext cx="374713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CONCLUSIONES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F14F97F-E91D-4EF7-9B59-5416B093DF18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AutoShape 14">
            <a:extLst>
              <a:ext uri="{FF2B5EF4-FFF2-40B4-BE49-F238E27FC236}">
                <a16:creationId xmlns:a16="http://schemas.microsoft.com/office/drawing/2014/main" id="{B4C566F9-57EC-4AFD-8AE0-7197DB40CE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3680" y="1751581"/>
            <a:ext cx="633482" cy="496888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32">
            <a:extLst>
              <a:ext uri="{FF2B5EF4-FFF2-40B4-BE49-F238E27FC236}">
                <a16:creationId xmlns:a16="http://schemas.microsoft.com/office/drawing/2014/main" id="{558D1F5A-2EC5-49FC-AF15-94BB63406FD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304711" y="177845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8CF5ECE-31F4-4045-8D1F-A29DFAD915CF}"/>
              </a:ext>
            </a:extLst>
          </p:cNvPr>
          <p:cNvGrpSpPr/>
          <p:nvPr/>
        </p:nvGrpSpPr>
        <p:grpSpPr>
          <a:xfrm>
            <a:off x="233680" y="4492936"/>
            <a:ext cx="633482" cy="496888"/>
            <a:chOff x="778811" y="3652422"/>
            <a:chExt cx="633482" cy="496888"/>
          </a:xfrm>
        </p:grpSpPr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DA017609-09FE-4337-A5FB-1617DDEBF7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8811" y="3652422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Box 33">
              <a:extLst>
                <a:ext uri="{FF2B5EF4-FFF2-40B4-BE49-F238E27FC236}">
                  <a16:creationId xmlns:a16="http://schemas.microsoft.com/office/drawing/2014/main" id="{EF741DB8-84DB-43E5-860D-5356517C1A2A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873615" y="367369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55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3BA-221F-472A-A8FB-85FA4E19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CD925B-5965-5D02-8D61-9A2CBE8E27D0}"/>
              </a:ext>
            </a:extLst>
          </p:cNvPr>
          <p:cNvSpPr txBox="1"/>
          <p:nvPr/>
        </p:nvSpPr>
        <p:spPr>
          <a:xfrm>
            <a:off x="1001925" y="1204232"/>
            <a:ext cx="782119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spcBef>
                <a:spcPts val="600"/>
              </a:spcBef>
              <a:spcAft>
                <a:spcPts val="600"/>
              </a:spcAf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 partir del diseño arquitectónico se implementó un sistema criptográfico que integra la gestión del ciclo de vida de claves, la firma digital y un esquema de auditoría segura. La solución incorpora mecanismos de gestión de claves criptográficas, protección de claves privadas, operaciones de firma digital y un registro de auditoría.</a:t>
            </a:r>
            <a:endParaRPr lang="es-C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-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La validación del sistema mediante la ejecución de pruebas unitarias, de integración y de sistema permitió verificar el correcto funcionamiento de los mecanismos criptográficos y el cumplimiento de los requisitos funcionales y de seguridad.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E7BA22-ABFD-4528-8E82-4B8B718065D4}"/>
              </a:ext>
            </a:extLst>
          </p:cNvPr>
          <p:cNvSpPr txBox="1"/>
          <p:nvPr/>
        </p:nvSpPr>
        <p:spPr>
          <a:xfrm>
            <a:off x="-201298" y="227016"/>
            <a:ext cx="374713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CONCLUSIONES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F14F97F-E91D-4EF7-9B59-5416B093DF18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7802F18-CD3A-4EB0-80F4-94D105D5C133}"/>
              </a:ext>
            </a:extLst>
          </p:cNvPr>
          <p:cNvGrpSpPr/>
          <p:nvPr/>
        </p:nvGrpSpPr>
        <p:grpSpPr>
          <a:xfrm>
            <a:off x="235662" y="4408087"/>
            <a:ext cx="633482" cy="496888"/>
            <a:chOff x="725061" y="6017202"/>
            <a:chExt cx="633482" cy="496888"/>
          </a:xfrm>
        </p:grpSpPr>
        <p:sp>
          <p:nvSpPr>
            <p:cNvPr id="6" name="AutoShape 14">
              <a:extLst>
                <a:ext uri="{FF2B5EF4-FFF2-40B4-BE49-F238E27FC236}">
                  <a16:creationId xmlns:a16="http://schemas.microsoft.com/office/drawing/2014/main" id="{A47489E0-AB48-42FD-A82D-879CB99F68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25061" y="6017202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Box 31">
              <a:extLst>
                <a:ext uri="{FF2B5EF4-FFF2-40B4-BE49-F238E27FC236}">
                  <a16:creationId xmlns:a16="http://schemas.microsoft.com/office/drawing/2014/main" id="{CAE8EA0C-2304-4266-82BE-FC69631B8A59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798191" y="603704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8A62E309-B2D3-4A02-A1E2-39089F1DFFC3}"/>
              </a:ext>
            </a:extLst>
          </p:cNvPr>
          <p:cNvGrpSpPr/>
          <p:nvPr/>
        </p:nvGrpSpPr>
        <p:grpSpPr>
          <a:xfrm>
            <a:off x="230656" y="1694366"/>
            <a:ext cx="633482" cy="496888"/>
            <a:chOff x="826825" y="4982651"/>
            <a:chExt cx="633482" cy="496888"/>
          </a:xfrm>
        </p:grpSpPr>
        <p:sp>
          <p:nvSpPr>
            <p:cNvPr id="9" name="AutoShape 14">
              <a:extLst>
                <a:ext uri="{FF2B5EF4-FFF2-40B4-BE49-F238E27FC236}">
                  <a16:creationId xmlns:a16="http://schemas.microsoft.com/office/drawing/2014/main" id="{87791F2C-5ED4-4E56-96C3-87C238FA4AA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26825" y="4982651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AF795DC8-6551-4CF5-B99A-219F00958308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923614" y="4987958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04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1E7A-CDB1-824E-9AB1-57FB3346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3347B5-71E1-A4F6-480A-7EE10B807755}"/>
              </a:ext>
            </a:extLst>
          </p:cNvPr>
          <p:cNvSpPr txBox="1"/>
          <p:nvPr/>
        </p:nvSpPr>
        <p:spPr>
          <a:xfrm>
            <a:off x="1073355" y="1225101"/>
            <a:ext cx="75216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Incorporar autenticación de dos factores mediante contraseña de un solo uso (OTP/TOTP) para operaciones críticas como la firma digital, de forma tal que se añada una capa adicional de seguridad más allá de la autenticación por token.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7AA133-CED9-49E7-858F-CFC34680C24D}"/>
              </a:ext>
            </a:extLst>
          </p:cNvPr>
          <p:cNvSpPr txBox="1"/>
          <p:nvPr/>
        </p:nvSpPr>
        <p:spPr>
          <a:xfrm>
            <a:off x="-201298" y="227016"/>
            <a:ext cx="431609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5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RECOMENDACIONES</a:t>
            </a:r>
            <a:endParaRPr lang="es-MX" sz="2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727CA36-6646-4FFD-8824-C605375D36B3}"/>
              </a:ext>
            </a:extLst>
          </p:cNvPr>
          <p:cNvCxnSpPr>
            <a:cxnSpLocks/>
          </p:cNvCxnSpPr>
          <p:nvPr/>
        </p:nvCxnSpPr>
        <p:spPr>
          <a:xfrm>
            <a:off x="233680" y="73758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8C883D92-EAE7-416B-B397-D77102FC6077}"/>
              </a:ext>
            </a:extLst>
          </p:cNvPr>
          <p:cNvSpPr txBox="1"/>
          <p:nvPr/>
        </p:nvSpPr>
        <p:spPr>
          <a:xfrm>
            <a:off x="1073355" y="3429000"/>
            <a:ext cx="75216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Evaluar el rendimiento y la escalabilidad del sistema mediante la ejecución de pruebas de carga y estrés, con el objetivo de determinar los límites operacionales del módulo, la latencia de las operaciones criptográficas bajo condiciones de alta concurrencia y su comportamiento en entornos de producción.</a:t>
            </a: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EDACBD45-49CA-408A-BD90-3A813FA6FC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3836" y="1752504"/>
            <a:ext cx="633482" cy="496888"/>
          </a:xfrm>
          <a:prstGeom prst="homePlate">
            <a:avLst>
              <a:gd name="adj" fmla="val 39919"/>
            </a:avLst>
          </a:prstGeom>
          <a:solidFill>
            <a:srgbClr val="086E54"/>
          </a:solidFill>
          <a:ln w="19050">
            <a:solidFill>
              <a:srgbClr val="FEFFFF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66AEC6B5-6D8A-4111-A50A-67548D82584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404867" y="1779381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9C68A9-9610-41E9-8396-21693FF694D5}"/>
              </a:ext>
            </a:extLst>
          </p:cNvPr>
          <p:cNvGrpSpPr/>
          <p:nvPr/>
        </p:nvGrpSpPr>
        <p:grpSpPr>
          <a:xfrm>
            <a:off x="333836" y="4161350"/>
            <a:ext cx="633482" cy="496888"/>
            <a:chOff x="778811" y="3652422"/>
            <a:chExt cx="633482" cy="496888"/>
          </a:xfrm>
        </p:grpSpPr>
        <p:sp>
          <p:nvSpPr>
            <p:cNvPr id="9" name="AutoShape 14">
              <a:extLst>
                <a:ext uri="{FF2B5EF4-FFF2-40B4-BE49-F238E27FC236}">
                  <a16:creationId xmlns:a16="http://schemas.microsoft.com/office/drawing/2014/main" id="{6925B267-078F-45F6-8EED-BD9643D393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8811" y="3652422"/>
              <a:ext cx="633482" cy="496888"/>
            </a:xfrm>
            <a:prstGeom prst="homePlate">
              <a:avLst>
                <a:gd name="adj" fmla="val 39919"/>
              </a:avLst>
            </a:prstGeom>
            <a:solidFill>
              <a:srgbClr val="086E54"/>
            </a:solidFill>
            <a:ln w="19050">
              <a:solidFill>
                <a:srgbClr val="FEFF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MX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Box 33">
              <a:extLst>
                <a:ext uri="{FF2B5EF4-FFF2-40B4-BE49-F238E27FC236}">
                  <a16:creationId xmlns:a16="http://schemas.microsoft.com/office/drawing/2014/main" id="{0845200E-4B97-4F92-8E48-B97887325D93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873615" y="367369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s-MX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952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0402CB1-9C99-6C1B-3B64-C7FF38F7E0CD}"/>
              </a:ext>
            </a:extLst>
          </p:cNvPr>
          <p:cNvSpPr txBox="1"/>
          <p:nvPr/>
        </p:nvSpPr>
        <p:spPr>
          <a:xfrm>
            <a:off x="1256159" y="107850"/>
            <a:ext cx="7038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Universidad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Tecnológica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de La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Habana</a:t>
            </a:r>
          </a:p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“</a:t>
            </a:r>
            <a:r>
              <a:rPr lang="es-ES_tradnl" sz="2000" kern="10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José Antonio Echeverría”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60CB6-3870-4CE8-0035-D296BFE7C183}"/>
              </a:ext>
            </a:extLst>
          </p:cNvPr>
          <p:cNvSpPr txBox="1"/>
          <p:nvPr/>
        </p:nvSpPr>
        <p:spPr>
          <a:xfrm>
            <a:off x="223962" y="2929878"/>
            <a:ext cx="8682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DESARROLLO DE UN MÓDULO DE SEGURIDAD POR SOFTWARE PARA LA GESTIÓN DE CLAVES CRIPTOGRÁFICAS Y FIRMA DIGITAL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C24001-A083-A1A2-3DFE-F37405E37272}"/>
              </a:ext>
            </a:extLst>
          </p:cNvPr>
          <p:cNvSpPr txBox="1"/>
          <p:nvPr/>
        </p:nvSpPr>
        <p:spPr>
          <a:xfrm>
            <a:off x="544946" y="5050869"/>
            <a:ext cx="7232072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9911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</a:pPr>
            <a:r>
              <a:rPr lang="es-ES_tradnl" sz="2400" b="1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Autor: 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Andy Martínez-Aparicio González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499110"/>
            <a:r>
              <a:rPr lang="es-ES_tradnl" sz="2400" b="1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Tutora: </a:t>
            </a:r>
            <a:r>
              <a:rPr lang="es-ES_tradnl" sz="2400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Dr. C.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Lisandra Bravo </a:t>
            </a:r>
            <a:r>
              <a:rPr lang="es-ES_tradnl" sz="2400" kern="100" spc="-1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Ilisástigui</a:t>
            </a:r>
            <a:endParaRPr lang="es-ES_tradnl" sz="2400" kern="100" spc="-1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076325" marR="499110" indent="69850">
              <a:tabLst>
                <a:tab pos="1165225" algn="l"/>
              </a:tabLst>
            </a:pPr>
            <a:r>
              <a:rPr lang="es-ES_tradnl" sz="2400" kern="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Ing. Rubén Sánchez Rivero</a:t>
            </a:r>
            <a:endParaRPr lang="es-MX" sz="2400" kern="1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79FC1E-EFFF-D4D2-34B2-F0C7CC16EAAB}"/>
              </a:ext>
            </a:extLst>
          </p:cNvPr>
          <p:cNvCxnSpPr>
            <a:cxnSpLocks/>
          </p:cNvCxnSpPr>
          <p:nvPr/>
        </p:nvCxnSpPr>
        <p:spPr>
          <a:xfrm>
            <a:off x="683492" y="2706254"/>
            <a:ext cx="7712363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6FE1D9-6461-752C-DB8D-E34D17AB7F40}"/>
              </a:ext>
            </a:extLst>
          </p:cNvPr>
          <p:cNvCxnSpPr>
            <a:cxnSpLocks/>
          </p:cNvCxnSpPr>
          <p:nvPr/>
        </p:nvCxnSpPr>
        <p:spPr>
          <a:xfrm flipV="1">
            <a:off x="1542549" y="4400553"/>
            <a:ext cx="6215997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390FA4-EA04-6388-FEF6-68E257F27673}"/>
              </a:ext>
            </a:extLst>
          </p:cNvPr>
          <p:cNvSpPr txBox="1"/>
          <p:nvPr/>
        </p:nvSpPr>
        <p:spPr>
          <a:xfrm>
            <a:off x="2637356" y="2077012"/>
            <a:ext cx="4105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Facultad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</a:t>
            </a:r>
            <a:r>
              <a:rPr lang="es-ES_tradnl" sz="2000" spc="-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Ingeniería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Informática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038947D-8359-49FB-BBB3-BBDCABC72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96" y="786950"/>
            <a:ext cx="1204308" cy="12168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709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60CB6-3870-4CE8-0035-D296BFE7C183}"/>
              </a:ext>
            </a:extLst>
          </p:cNvPr>
          <p:cNvSpPr txBox="1"/>
          <p:nvPr/>
        </p:nvSpPr>
        <p:spPr>
          <a:xfrm>
            <a:off x="2401452" y="2459504"/>
            <a:ext cx="403629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</a:p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pPr algn="ctr"/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OPONENCIA</a:t>
            </a:r>
            <a:endParaRPr lang="es-MX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79FC1E-EFFF-D4D2-34B2-F0C7CC16EAAB}"/>
              </a:ext>
            </a:extLst>
          </p:cNvPr>
          <p:cNvCxnSpPr>
            <a:cxnSpLocks/>
          </p:cNvCxnSpPr>
          <p:nvPr/>
        </p:nvCxnSpPr>
        <p:spPr>
          <a:xfrm>
            <a:off x="678912" y="1708727"/>
            <a:ext cx="7712363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6FE1D9-6461-752C-DB8D-E34D17AB7F40}"/>
              </a:ext>
            </a:extLst>
          </p:cNvPr>
          <p:cNvCxnSpPr>
            <a:cxnSpLocks/>
          </p:cNvCxnSpPr>
          <p:nvPr/>
        </p:nvCxnSpPr>
        <p:spPr>
          <a:xfrm flipV="1">
            <a:off x="1542549" y="5333425"/>
            <a:ext cx="6215997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504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A1AB47AB-3D63-D423-8C2C-EDE6F868D4FA}"/>
              </a:ext>
            </a:extLst>
          </p:cNvPr>
          <p:cNvSpPr txBox="1"/>
          <p:nvPr/>
        </p:nvSpPr>
        <p:spPr>
          <a:xfrm>
            <a:off x="-201298" y="227016"/>
            <a:ext cx="3480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PREGUNTA 1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D4026-5BF4-D795-CB81-20783084938E}"/>
              </a:ext>
            </a:extLst>
          </p:cNvPr>
          <p:cNvSpPr txBox="1"/>
          <p:nvPr/>
        </p:nvSpPr>
        <p:spPr>
          <a:xfrm>
            <a:off x="547176" y="2034997"/>
            <a:ext cx="7848323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un entorno real, ¿cómo asegura que la configuración de producción sea la más restrictiva y que ningún desarrollador pueda desplegar cambios sin aprobación?</a:t>
            </a:r>
            <a:endParaRPr lang="es-MX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D221412-2215-49E7-BD16-3B1E50C4EA35}"/>
              </a:ext>
            </a:extLst>
          </p:cNvPr>
          <p:cNvCxnSpPr>
            <a:cxnSpLocks/>
          </p:cNvCxnSpPr>
          <p:nvPr/>
        </p:nvCxnSpPr>
        <p:spPr>
          <a:xfrm>
            <a:off x="406044" y="2208059"/>
            <a:ext cx="0" cy="2424765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63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D92A294-21B2-4430-B92E-20B1FDCD2167}"/>
              </a:ext>
            </a:extLst>
          </p:cNvPr>
          <p:cNvSpPr txBox="1"/>
          <p:nvPr/>
        </p:nvSpPr>
        <p:spPr>
          <a:xfrm>
            <a:off x="613800" y="3700119"/>
            <a:ext cx="8639376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Revisiones de código obligatorias.</a:t>
            </a:r>
          </a:p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Aprobaciones manuales de personal autorizado.</a:t>
            </a:r>
          </a:p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Separación de entornos de desarrollo, pruebas y producción.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480F974-58D0-459E-89D6-7DA0E9B55EFD}"/>
              </a:ext>
            </a:extLst>
          </p:cNvPr>
          <p:cNvSpPr/>
          <p:nvPr/>
        </p:nvSpPr>
        <p:spPr>
          <a:xfrm>
            <a:off x="501384" y="3996870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580840B-D3BD-4421-A7AD-3A4D670174E2}"/>
              </a:ext>
            </a:extLst>
          </p:cNvPr>
          <p:cNvSpPr/>
          <p:nvPr/>
        </p:nvSpPr>
        <p:spPr>
          <a:xfrm>
            <a:off x="501381" y="4564941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FD2CCB4-9D83-4B2C-99C8-3E36C7C6E6DA}"/>
              </a:ext>
            </a:extLst>
          </p:cNvPr>
          <p:cNvSpPr/>
          <p:nvPr/>
        </p:nvSpPr>
        <p:spPr>
          <a:xfrm>
            <a:off x="510617" y="5133009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4DA8FD-3BE8-47D6-9282-B9272C707B18}"/>
              </a:ext>
            </a:extLst>
          </p:cNvPr>
          <p:cNvSpPr txBox="1"/>
          <p:nvPr/>
        </p:nvSpPr>
        <p:spPr>
          <a:xfrm>
            <a:off x="-301133" y="3217665"/>
            <a:ext cx="4726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Mecanismos de control: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5ACE9E9-BBBF-4083-A59D-4F5E9A16F420}"/>
              </a:ext>
            </a:extLst>
          </p:cNvPr>
          <p:cNvSpPr txBox="1"/>
          <p:nvPr/>
        </p:nvSpPr>
        <p:spPr>
          <a:xfrm>
            <a:off x="431859" y="1688405"/>
            <a:ext cx="86393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500" b="1" dirty="0">
                <a:latin typeface="Arial" panose="020B0604020202020204" pitchFamily="34" charset="0"/>
                <a:cs typeface="Arial" panose="020B0604020202020204" pitchFamily="34" charset="0"/>
              </a:rPr>
              <a:t>Ningún desarrollador debe tener acceso a producción.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395D55B-7968-4547-8C61-0A2F8F126CB7}"/>
              </a:ext>
            </a:extLst>
          </p:cNvPr>
          <p:cNvSpPr txBox="1"/>
          <p:nvPr/>
        </p:nvSpPr>
        <p:spPr>
          <a:xfrm>
            <a:off x="-254950" y="283833"/>
            <a:ext cx="79889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 DE </a:t>
            </a:r>
            <a:r>
              <a:rPr lang="es-ES_tradnl" sz="26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FLUJO DE DESPLIEGUE</a:t>
            </a:r>
            <a:endParaRPr lang="es-MX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FE2CA6C2-DF98-46B0-8B24-DF99A3BACA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622" y="1496004"/>
            <a:ext cx="8507986" cy="861573"/>
          </a:xfrm>
          <a:prstGeom prst="roundRect">
            <a:avLst>
              <a:gd name="adj" fmla="val 9481"/>
            </a:avLst>
          </a:prstGeom>
          <a:noFill/>
          <a:ln w="38100">
            <a:solidFill>
              <a:srgbClr val="086E5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50000">
                      <a:srgbClr val="EAEAEA"/>
                    </a:gs>
                    <a:gs pos="100000">
                      <a:schemeClr val="bg1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1162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A1AB47AB-3D63-D423-8C2C-EDE6F868D4FA}"/>
              </a:ext>
            </a:extLst>
          </p:cNvPr>
          <p:cNvSpPr txBox="1"/>
          <p:nvPr/>
        </p:nvSpPr>
        <p:spPr>
          <a:xfrm>
            <a:off x="-201298" y="227016"/>
            <a:ext cx="3480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PREGUNTA 2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D4026-5BF4-D795-CB81-20783084938E}"/>
              </a:ext>
            </a:extLst>
          </p:cNvPr>
          <p:cNvSpPr txBox="1"/>
          <p:nvPr/>
        </p:nvSpPr>
        <p:spPr>
          <a:xfrm>
            <a:off x="528704" y="2421689"/>
            <a:ext cx="7636242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U" sz="2800" dirty="0">
                <a:latin typeface="Arial" panose="020B0604020202020204" pitchFamily="34" charset="0"/>
              </a:rPr>
              <a:t>¿Cuál es la principal limitación de su propuesta y cómo podría superarse en trabajos futuros?</a:t>
            </a:r>
            <a:endParaRPr lang="es-MX" sz="2800" dirty="0">
              <a:latin typeface="Arial" panose="020B060402020202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D221412-2215-49E7-BD16-3B1E50C4EA35}"/>
              </a:ext>
            </a:extLst>
          </p:cNvPr>
          <p:cNvCxnSpPr>
            <a:cxnSpLocks/>
          </p:cNvCxnSpPr>
          <p:nvPr/>
        </p:nvCxnSpPr>
        <p:spPr>
          <a:xfrm>
            <a:off x="415281" y="2484814"/>
            <a:ext cx="1" cy="1888371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970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6A1533-1B4B-4836-AFD8-57B45008EA50}"/>
              </a:ext>
            </a:extLst>
          </p:cNvPr>
          <p:cNvSpPr txBox="1"/>
          <p:nvPr/>
        </p:nvSpPr>
        <p:spPr>
          <a:xfrm>
            <a:off x="-201299" y="227016"/>
            <a:ext cx="7738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FACTOR </a:t>
            </a:r>
            <a:r>
              <a:rPr lang="es-ES_tradnl" sz="28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ÚNICO DE AUTENTICACIÓN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F14ABB-9528-4094-8ED2-7E87E6B3BBD3}"/>
              </a:ext>
            </a:extLst>
          </p:cNvPr>
          <p:cNvSpPr txBox="1"/>
          <p:nvPr/>
        </p:nvSpPr>
        <p:spPr>
          <a:xfrm>
            <a:off x="-12161" y="1311407"/>
            <a:ext cx="4796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Mecanismo implementado: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4E5A4C-AE07-4C15-91A5-5927A8B91DBE}"/>
              </a:ext>
            </a:extLst>
          </p:cNvPr>
          <p:cNvSpPr txBox="1"/>
          <p:nvPr/>
        </p:nvSpPr>
        <p:spPr>
          <a:xfrm>
            <a:off x="556799" y="1917876"/>
            <a:ext cx="8918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Uso de tokens </a:t>
            </a:r>
            <a:r>
              <a:rPr lang="es-ES_tradnl" sz="2400" i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JWT</a:t>
            </a:r>
            <a:r>
              <a:rPr lang="es-ES_tradnl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emitidos por </a:t>
            </a:r>
            <a:r>
              <a:rPr lang="es-ES_tradnl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Keycloak</a:t>
            </a:r>
            <a:r>
              <a:rPr lang="es-ES_tradnl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para garantizar identidad y privilegios del usuario.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E67692-311A-428B-A6FE-F3B46187619B}"/>
              </a:ext>
            </a:extLst>
          </p:cNvPr>
          <p:cNvSpPr txBox="1"/>
          <p:nvPr/>
        </p:nvSpPr>
        <p:spPr>
          <a:xfrm>
            <a:off x="0" y="3765607"/>
            <a:ext cx="5558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Recomendación a trabajo futuro: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821469-23E0-479F-BC39-097ABBF55AB2}"/>
              </a:ext>
            </a:extLst>
          </p:cNvPr>
          <p:cNvSpPr txBox="1"/>
          <p:nvPr/>
        </p:nvSpPr>
        <p:spPr>
          <a:xfrm>
            <a:off x="708750" y="4286798"/>
            <a:ext cx="8639376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Implementación de autenticación de doble factor.</a:t>
            </a:r>
          </a:p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Aplicación de políticas de expiración de </a:t>
            </a:r>
            <a:r>
              <a:rPr lang="es-MX" sz="2400" i="1" dirty="0"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más estrictas.</a:t>
            </a:r>
          </a:p>
          <a:p>
            <a:pPr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Implementación de mecanismos de revocación de sesiones activas.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13F4A74-E378-4728-8192-3D66374DD04E}"/>
              </a:ext>
            </a:extLst>
          </p:cNvPr>
          <p:cNvSpPr/>
          <p:nvPr/>
        </p:nvSpPr>
        <p:spPr>
          <a:xfrm>
            <a:off x="547566" y="4595741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47B22DD-3B7A-4D71-82E8-2C921A355A06}"/>
              </a:ext>
            </a:extLst>
          </p:cNvPr>
          <p:cNvSpPr/>
          <p:nvPr/>
        </p:nvSpPr>
        <p:spPr>
          <a:xfrm>
            <a:off x="547563" y="5163812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EA6A4D1-28E3-4C34-8A9B-3C374FE8B5E1}"/>
              </a:ext>
            </a:extLst>
          </p:cNvPr>
          <p:cNvSpPr/>
          <p:nvPr/>
        </p:nvSpPr>
        <p:spPr>
          <a:xfrm>
            <a:off x="556799" y="5731880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687AB2-4950-4FBF-B978-F9CBDFC15D13}"/>
              </a:ext>
            </a:extLst>
          </p:cNvPr>
          <p:cNvCxnSpPr>
            <a:cxnSpLocks/>
          </p:cNvCxnSpPr>
          <p:nvPr/>
        </p:nvCxnSpPr>
        <p:spPr>
          <a:xfrm>
            <a:off x="498794" y="1902091"/>
            <a:ext cx="1" cy="91440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40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6A1533-1B4B-4836-AFD8-57B45008EA50}"/>
              </a:ext>
            </a:extLst>
          </p:cNvPr>
          <p:cNvSpPr txBox="1"/>
          <p:nvPr/>
        </p:nvSpPr>
        <p:spPr>
          <a:xfrm>
            <a:off x="-201299" y="227016"/>
            <a:ext cx="8006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PROTECCIÓN DE LA BASE DE DATOS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4E5A4C-AE07-4C15-91A5-5927A8B91DBE}"/>
              </a:ext>
            </a:extLst>
          </p:cNvPr>
          <p:cNvSpPr txBox="1"/>
          <p:nvPr/>
        </p:nvSpPr>
        <p:spPr>
          <a:xfrm>
            <a:off x="429170" y="1340733"/>
            <a:ext cx="891895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MX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Actualmente el control de acceso opera a nivel de aplicación.</a:t>
            </a:r>
          </a:p>
          <a:p>
            <a:pPr>
              <a:spcBef>
                <a:spcPts val="600"/>
              </a:spcBef>
            </a:pPr>
            <a:r>
              <a:rPr lang="es-MX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 administrador de la base de datos podría leer datos sensibles y modificar datos.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E67692-311A-428B-A6FE-F3B46187619B}"/>
              </a:ext>
            </a:extLst>
          </p:cNvPr>
          <p:cNvSpPr txBox="1"/>
          <p:nvPr/>
        </p:nvSpPr>
        <p:spPr>
          <a:xfrm>
            <a:off x="-55416" y="3239128"/>
            <a:ext cx="5558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Recomendación a trabajo futuro: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821469-23E0-479F-BC39-097ABBF55AB2}"/>
              </a:ext>
            </a:extLst>
          </p:cNvPr>
          <p:cNvSpPr txBox="1"/>
          <p:nvPr/>
        </p:nvSpPr>
        <p:spPr>
          <a:xfrm>
            <a:off x="607152" y="3898861"/>
            <a:ext cx="86393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Aislar PostgreSQL en una red privada y restringir acceso.</a:t>
            </a:r>
          </a:p>
          <a:p>
            <a:pPr>
              <a:spcAft>
                <a:spcPts val="12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Implementar 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triggers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que bloqueen modificaciones o eliminaciones en las tablas de auditoría.</a:t>
            </a: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Desplegar la extensión 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pgAudit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para registrar toda la actividad sobre la base de datos.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13F4A74-E378-4728-8192-3D66374DD04E}"/>
              </a:ext>
            </a:extLst>
          </p:cNvPr>
          <p:cNvSpPr/>
          <p:nvPr/>
        </p:nvSpPr>
        <p:spPr>
          <a:xfrm>
            <a:off x="430109" y="4081430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47B22DD-3B7A-4D71-82E8-2C921A355A06}"/>
              </a:ext>
            </a:extLst>
          </p:cNvPr>
          <p:cNvSpPr/>
          <p:nvPr/>
        </p:nvSpPr>
        <p:spPr>
          <a:xfrm>
            <a:off x="430109" y="4605413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EA6A4D1-28E3-4C34-8A9B-3C374FE8B5E1}"/>
              </a:ext>
            </a:extLst>
          </p:cNvPr>
          <p:cNvSpPr/>
          <p:nvPr/>
        </p:nvSpPr>
        <p:spPr>
          <a:xfrm>
            <a:off x="431285" y="5528669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67C8668-07B0-49C7-94F8-184A88B6A322}"/>
              </a:ext>
            </a:extLst>
          </p:cNvPr>
          <p:cNvCxnSpPr>
            <a:cxnSpLocks/>
          </p:cNvCxnSpPr>
          <p:nvPr/>
        </p:nvCxnSpPr>
        <p:spPr>
          <a:xfrm>
            <a:off x="277860" y="1349586"/>
            <a:ext cx="1" cy="128016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420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6A1533-1B4B-4836-AFD8-57B45008EA50}"/>
              </a:ext>
            </a:extLst>
          </p:cNvPr>
          <p:cNvSpPr txBox="1"/>
          <p:nvPr/>
        </p:nvSpPr>
        <p:spPr>
          <a:xfrm>
            <a:off x="-201299" y="227016"/>
            <a:ext cx="8301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PROTECCIÓN DE LA CLAVE MAESTRA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E67692-311A-428B-A6FE-F3B46187619B}"/>
              </a:ext>
            </a:extLst>
          </p:cNvPr>
          <p:cNvSpPr txBox="1"/>
          <p:nvPr/>
        </p:nvSpPr>
        <p:spPr>
          <a:xfrm>
            <a:off x="0" y="2911781"/>
            <a:ext cx="4535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Soluciones en la industria: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821469-23E0-479F-BC39-097ABBF55AB2}"/>
              </a:ext>
            </a:extLst>
          </p:cNvPr>
          <p:cNvSpPr txBox="1"/>
          <p:nvPr/>
        </p:nvSpPr>
        <p:spPr>
          <a:xfrm>
            <a:off x="480193" y="3541633"/>
            <a:ext cx="863937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Uso de gestores de secretos dedicados. Software especializado que centraliza y protege el almacenamiento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Uso de un TPM (Módulo de plataforma segura), chip físico, la clave nunca puede extraerse.</a:t>
            </a:r>
          </a:p>
          <a:p>
            <a:pPr>
              <a:spcBef>
                <a:spcPts val="600"/>
              </a:spcBef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Uso de TEE (Entorno de ejecución confiable), entornos de ejecución aislados dentro del propio procesador.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13F4A74-E378-4728-8192-3D66374DD04E}"/>
              </a:ext>
            </a:extLst>
          </p:cNvPr>
          <p:cNvSpPr/>
          <p:nvPr/>
        </p:nvSpPr>
        <p:spPr>
          <a:xfrm>
            <a:off x="323484" y="3739528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47B22DD-3B7A-4D71-82E8-2C921A355A06}"/>
              </a:ext>
            </a:extLst>
          </p:cNvPr>
          <p:cNvSpPr/>
          <p:nvPr/>
        </p:nvSpPr>
        <p:spPr>
          <a:xfrm>
            <a:off x="347927" y="4788634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EA6A4D1-28E3-4C34-8A9B-3C374FE8B5E1}"/>
              </a:ext>
            </a:extLst>
          </p:cNvPr>
          <p:cNvSpPr/>
          <p:nvPr/>
        </p:nvSpPr>
        <p:spPr>
          <a:xfrm>
            <a:off x="331148" y="5851113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34079-F4B6-4138-ABAE-2F6BD7C1EA6D}"/>
              </a:ext>
            </a:extLst>
          </p:cNvPr>
          <p:cNvSpPr txBox="1"/>
          <p:nvPr/>
        </p:nvSpPr>
        <p:spPr>
          <a:xfrm>
            <a:off x="430733" y="1369397"/>
            <a:ext cx="8918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clave maestra se carga desde una variable de entorno, funcional pero vulnerable ante acceso privilegiado.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8284419-2401-4B45-80D1-C8934438C04E}"/>
              </a:ext>
            </a:extLst>
          </p:cNvPr>
          <p:cNvCxnSpPr>
            <a:cxnSpLocks/>
          </p:cNvCxnSpPr>
          <p:nvPr/>
        </p:nvCxnSpPr>
        <p:spPr>
          <a:xfrm>
            <a:off x="375316" y="1347368"/>
            <a:ext cx="1" cy="91440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796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A1AB47AB-3D63-D423-8C2C-EDE6F868D4FA}"/>
              </a:ext>
            </a:extLst>
          </p:cNvPr>
          <p:cNvSpPr txBox="1"/>
          <p:nvPr/>
        </p:nvSpPr>
        <p:spPr>
          <a:xfrm>
            <a:off x="-201298" y="199307"/>
            <a:ext cx="3480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PREGUNTA </a:t>
            </a:r>
            <a:r>
              <a:rPr lang="es-ES_tradnl" sz="28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s-MX" sz="2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D4026-5BF4-D795-CB81-20783084938E}"/>
              </a:ext>
            </a:extLst>
          </p:cNvPr>
          <p:cNvSpPr txBox="1"/>
          <p:nvPr/>
        </p:nvSpPr>
        <p:spPr>
          <a:xfrm>
            <a:off x="681143" y="1806920"/>
            <a:ext cx="7636242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U" sz="2800" dirty="0">
                <a:latin typeface="Arial" panose="020B0604020202020204" pitchFamily="34" charset="0"/>
              </a:rPr>
              <a:t>¿Cómo aseguró que las bibliotecas criptográficas de terceros, </a:t>
            </a:r>
            <a:r>
              <a:rPr lang="es-CU" sz="2800" dirty="0" err="1">
                <a:latin typeface="Arial" panose="020B0604020202020204" pitchFamily="34" charset="0"/>
              </a:rPr>
              <a:t>SQLpostgres</a:t>
            </a:r>
            <a:r>
              <a:rPr lang="es-CU" sz="2800" dirty="0">
                <a:latin typeface="Arial" panose="020B0604020202020204" pitchFamily="34" charset="0"/>
              </a:rPr>
              <a:t> u otras tecnologías no introducen vulnerabilidades y cómo gestiona su ciclo de actualización en el módulo?</a:t>
            </a:r>
            <a:endParaRPr lang="es-MX" sz="2800" dirty="0">
              <a:latin typeface="Arial" panose="020B060402020202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D221412-2215-49E7-BD16-3B1E50C4EA35}"/>
              </a:ext>
            </a:extLst>
          </p:cNvPr>
          <p:cNvCxnSpPr>
            <a:cxnSpLocks/>
          </p:cNvCxnSpPr>
          <p:nvPr/>
        </p:nvCxnSpPr>
        <p:spPr>
          <a:xfrm>
            <a:off x="470697" y="1976818"/>
            <a:ext cx="1" cy="310896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383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CAC3-F8AF-9E09-AC6A-E5619CE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920136-EAB0-4E3D-A39E-B20F06348B7A}"/>
              </a:ext>
            </a:extLst>
          </p:cNvPr>
          <p:cNvCxnSpPr>
            <a:cxnSpLocks/>
          </p:cNvCxnSpPr>
          <p:nvPr/>
        </p:nvCxnSpPr>
        <p:spPr>
          <a:xfrm>
            <a:off x="224444" y="829940"/>
            <a:ext cx="85496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6C0F94-F729-4D58-8D7F-9C0DD2434862}"/>
              </a:ext>
            </a:extLst>
          </p:cNvPr>
          <p:cNvCxnSpPr>
            <a:cxnSpLocks/>
          </p:cNvCxnSpPr>
          <p:nvPr/>
        </p:nvCxnSpPr>
        <p:spPr>
          <a:xfrm>
            <a:off x="251968" y="6545783"/>
            <a:ext cx="3736340" cy="0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A88AD6-4812-4905-AA67-37B8C0FE8C3C}"/>
              </a:ext>
            </a:extLst>
          </p:cNvPr>
          <p:cNvCxnSpPr>
            <a:cxnSpLocks/>
          </p:cNvCxnSpPr>
          <p:nvPr/>
        </p:nvCxnSpPr>
        <p:spPr>
          <a:xfrm>
            <a:off x="5028438" y="6546368"/>
            <a:ext cx="3831082" cy="20557"/>
          </a:xfrm>
          <a:prstGeom prst="line">
            <a:avLst/>
          </a:prstGeom>
          <a:ln w="38100">
            <a:solidFill>
              <a:srgbClr val="086E5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3D8DF4E-6FAA-4211-84C6-C6B72A0C34F7}"/>
              </a:ext>
            </a:extLst>
          </p:cNvPr>
          <p:cNvSpPr/>
          <p:nvPr/>
        </p:nvSpPr>
        <p:spPr>
          <a:xfrm>
            <a:off x="4471338" y="6516715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D92A294-21B2-4430-B92E-20B1FDCD2167}"/>
              </a:ext>
            </a:extLst>
          </p:cNvPr>
          <p:cNvSpPr txBox="1"/>
          <p:nvPr/>
        </p:nvSpPr>
        <p:spPr>
          <a:xfrm>
            <a:off x="578948" y="1637549"/>
            <a:ext cx="8195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Las operaciones criptográficas se realizan con la extensión nativa de Java, </a:t>
            </a:r>
            <a:r>
              <a:rPr lang="es-MX" sz="2400" i="1" dirty="0">
                <a:latin typeface="Arial" panose="020B0604020202020204" pitchFamily="34" charset="0"/>
                <a:cs typeface="Arial" panose="020B0604020202020204" pitchFamily="34" charset="0"/>
              </a:rPr>
              <a:t>Java 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Cryptography</a:t>
            </a:r>
            <a:r>
              <a:rPr lang="es-MX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(JCE).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Se seleccionó PostgreSQL 16 verificando que contara con soporte activo y sin vulnerabilidades conocidas.</a:t>
            </a:r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Para las actualizaciones, el proyecto utiliza el gestor de dependencias (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r>
              <a:rPr lang="es-MX" sz="2400" i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MX" sz="2400" i="1" dirty="0">
                <a:latin typeface="Arial" panose="020B0604020202020204" pitchFamily="34" charset="0"/>
                <a:cs typeface="Arial" panose="020B0604020202020204" pitchFamily="34" charset="0"/>
              </a:rPr>
              <a:t>-starter-</a:t>
            </a:r>
            <a:r>
              <a:rPr lang="es-MX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). Una sola actualización propaga parches en todas las dependencias.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480F974-58D0-459E-89D6-7DA0E9B55EFD}"/>
              </a:ext>
            </a:extLst>
          </p:cNvPr>
          <p:cNvSpPr/>
          <p:nvPr/>
        </p:nvSpPr>
        <p:spPr>
          <a:xfrm>
            <a:off x="360683" y="1878617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580840B-D3BD-4421-A7AD-3A4D670174E2}"/>
              </a:ext>
            </a:extLst>
          </p:cNvPr>
          <p:cNvSpPr/>
          <p:nvPr/>
        </p:nvSpPr>
        <p:spPr>
          <a:xfrm>
            <a:off x="360680" y="2973157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FD2CCB4-9D83-4B2C-99C8-3E36C7C6E6DA}"/>
              </a:ext>
            </a:extLst>
          </p:cNvPr>
          <p:cNvSpPr/>
          <p:nvPr/>
        </p:nvSpPr>
        <p:spPr>
          <a:xfrm>
            <a:off x="369916" y="4457836"/>
            <a:ext cx="74324" cy="70329"/>
          </a:xfrm>
          <a:prstGeom prst="ellipse">
            <a:avLst/>
          </a:prstGeom>
          <a:solidFill>
            <a:srgbClr val="086E54"/>
          </a:solidFill>
          <a:ln>
            <a:solidFill>
              <a:srgbClr val="086E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1B1501-E35A-48E8-AE12-5450A5B9D954}"/>
              </a:ext>
            </a:extLst>
          </p:cNvPr>
          <p:cNvSpPr txBox="1"/>
          <p:nvPr/>
        </p:nvSpPr>
        <p:spPr>
          <a:xfrm>
            <a:off x="-201299" y="227016"/>
            <a:ext cx="95391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GESTIÓN DE DEPENDENCIAS Y VULNERABILIDADES</a:t>
            </a:r>
            <a:endParaRPr lang="es-MX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962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0402CB1-9C99-6C1B-3B64-C7FF38F7E0CD}"/>
              </a:ext>
            </a:extLst>
          </p:cNvPr>
          <p:cNvSpPr txBox="1"/>
          <p:nvPr/>
        </p:nvSpPr>
        <p:spPr>
          <a:xfrm>
            <a:off x="1256159" y="107850"/>
            <a:ext cx="7038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Universidad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Tecnológica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de La</a:t>
            </a:r>
            <a:r>
              <a:rPr lang="es-ES_tradnl" sz="2000" kern="100" spc="-8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Habana</a:t>
            </a:r>
          </a:p>
          <a:p>
            <a:pPr marL="722313" marR="1333500" algn="ctr">
              <a:tabLst>
                <a:tab pos="5826125" algn="l"/>
              </a:tabLst>
            </a:pPr>
            <a:r>
              <a:rPr lang="es-ES_tradnl" sz="2000" kern="100" spc="-1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“</a:t>
            </a:r>
            <a:r>
              <a:rPr lang="es-ES_tradnl" sz="2000" kern="100" dirty="0">
                <a:effectLst/>
                <a:latin typeface="Lucida Sans Unicode" panose="020B0602030504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José Antonio Echeverría”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960CB6-3870-4CE8-0035-D296BFE7C183}"/>
              </a:ext>
            </a:extLst>
          </p:cNvPr>
          <p:cNvSpPr txBox="1"/>
          <p:nvPr/>
        </p:nvSpPr>
        <p:spPr>
          <a:xfrm>
            <a:off x="223962" y="2929878"/>
            <a:ext cx="8682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DESARROLLO DE UN MÓDULO DE SEGURIDAD POR SOFTWARE PARA LA GESTIÓN DE CLAVES CRIPTOGRÁFICAS Y FIRMA DIGITAL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C24001-A083-A1A2-3DFE-F37405E37272}"/>
              </a:ext>
            </a:extLst>
          </p:cNvPr>
          <p:cNvSpPr txBox="1"/>
          <p:nvPr/>
        </p:nvSpPr>
        <p:spPr>
          <a:xfrm>
            <a:off x="544946" y="5050869"/>
            <a:ext cx="7232072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9911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</a:pPr>
            <a:r>
              <a:rPr lang="es-ES_tradnl" sz="2400" b="1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Autor: 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Andy Martínez-Aparicio González</a:t>
            </a:r>
            <a:endParaRPr lang="es-MX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499110"/>
            <a:r>
              <a:rPr lang="es-ES_tradnl" sz="2400" b="1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Tutora: </a:t>
            </a:r>
            <a:r>
              <a:rPr lang="es-ES_tradnl" sz="2400" kern="1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Dr. C. </a:t>
            </a:r>
            <a:r>
              <a:rPr lang="es-ES_tradnl" sz="2400" kern="100" spc="-1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Lisandra Bravo </a:t>
            </a:r>
            <a:r>
              <a:rPr lang="es-ES_tradnl" sz="2400" kern="100" spc="-1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Ilisástigui</a:t>
            </a:r>
            <a:endParaRPr lang="es-ES_tradnl" sz="2400" kern="100" spc="-1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076325" marR="499110" indent="69850">
              <a:tabLst>
                <a:tab pos="1165225" algn="l"/>
              </a:tabLst>
            </a:pPr>
            <a:r>
              <a:rPr lang="es-ES_tradnl" sz="2400" kern="1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Ing. Rubén Sánchez Rivero</a:t>
            </a:r>
            <a:endParaRPr lang="es-MX" sz="2400" kern="1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79FC1E-EFFF-D4D2-34B2-F0C7CC16EAAB}"/>
              </a:ext>
            </a:extLst>
          </p:cNvPr>
          <p:cNvCxnSpPr>
            <a:cxnSpLocks/>
          </p:cNvCxnSpPr>
          <p:nvPr/>
        </p:nvCxnSpPr>
        <p:spPr>
          <a:xfrm>
            <a:off x="683492" y="2706254"/>
            <a:ext cx="7712363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6FE1D9-6461-752C-DB8D-E34D17AB7F40}"/>
              </a:ext>
            </a:extLst>
          </p:cNvPr>
          <p:cNvCxnSpPr>
            <a:cxnSpLocks/>
          </p:cNvCxnSpPr>
          <p:nvPr/>
        </p:nvCxnSpPr>
        <p:spPr>
          <a:xfrm flipV="1">
            <a:off x="1542549" y="4400553"/>
            <a:ext cx="6215997" cy="0"/>
          </a:xfrm>
          <a:prstGeom prst="line">
            <a:avLst/>
          </a:prstGeom>
          <a:ln w="79375" cmpd="thickThin">
            <a:solidFill>
              <a:srgbClr val="086E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390FA4-EA04-6388-FEF6-68E257F27673}"/>
              </a:ext>
            </a:extLst>
          </p:cNvPr>
          <p:cNvSpPr txBox="1"/>
          <p:nvPr/>
        </p:nvSpPr>
        <p:spPr>
          <a:xfrm>
            <a:off x="2637356" y="2077012"/>
            <a:ext cx="4105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Facultad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</a:t>
            </a:r>
            <a:r>
              <a:rPr lang="es-ES_tradnl" sz="2000" spc="-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Ingeniería</a:t>
            </a:r>
            <a:r>
              <a:rPr lang="es-ES_tradnl" sz="2000" spc="-55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s-ES_tradnl" sz="2000" spc="-2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Informática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038947D-8359-49FB-BBB3-BBDCABC72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96" y="786950"/>
            <a:ext cx="1204308" cy="12168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327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9795</TotalTime>
  <Words>1462</Words>
  <Application>Microsoft Office PowerPoint</Application>
  <PresentationFormat>Presentación en pantalla (4:3)</PresentationFormat>
  <Paragraphs>196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Lucida Sans Unicode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isbel</dc:creator>
  <cp:lastModifiedBy>Andy</cp:lastModifiedBy>
  <cp:revision>98</cp:revision>
  <dcterms:created xsi:type="dcterms:W3CDTF">2025-03-01T05:59:05Z</dcterms:created>
  <dcterms:modified xsi:type="dcterms:W3CDTF">2026-07-25T19:45:22Z</dcterms:modified>
</cp:coreProperties>
</file>